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virasat-indol.vercel.app" TargetMode="External"/><Relationship Id="rId2" Type="http://schemas.openxmlformats.org/officeDocument/2006/relationships/hyperlink" Target="https://github.com/usv240/virasat"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t"/>
          <a:lstStyle/>
          <a:p>
            <a:pPr indent="0" marL="0">
              <a:buNone/>
            </a:pPr>
            <a:r>
              <a:rPr lang="en-US" sz="1100" b="1" spc="200" kern="0" dirty="0">
                <a:solidFill>
                  <a:srgbClr val="E3A33B"/>
                </a:solidFill>
                <a:latin typeface="Calibri" pitchFamily="34" charset="0"/>
                <a:ea typeface="Calibri" pitchFamily="34" charset="-122"/>
                <a:cs typeface="Calibri" pitchFamily="34" charset="-120"/>
              </a:rPr>
              <a:t>GLOBAL INNOVATION HACKATHON 2026  ·  PROJECT SUBMISSION</a:t>
            </a:r>
            <a:endParaRPr lang="en-US" sz="1100" dirty="0"/>
          </a:p>
        </p:txBody>
      </p:sp>
      <p:sp>
        <p:nvSpPr>
          <p:cNvPr id="3" name="Text 1"/>
          <p:cNvSpPr txBox="1"/>
          <p:nvPr/>
        </p:nvSpPr>
        <p:spPr>
          <a:xfrm>
            <a:off x="548640" y="960120"/>
            <a:ext cx="4572000" cy="86868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Virasat</a:t>
            </a:r>
            <a:endParaRPr lang="en-US" sz="5400" dirty="0"/>
          </a:p>
        </p:txBody>
      </p:sp>
      <p:sp>
        <p:nvSpPr>
          <p:cNvPr id="4" name="Text 2"/>
          <p:cNvSpPr txBox="1"/>
          <p:nvPr/>
        </p:nvSpPr>
        <p:spPr>
          <a:xfrm>
            <a:off x="548640" y="1828800"/>
            <a:ext cx="4572000" cy="411480"/>
          </a:xfrm>
          <a:prstGeom prst="rect">
            <a:avLst/>
          </a:prstGeom>
          <a:noFill/>
          <a:ln/>
        </p:spPr>
        <p:txBody>
          <a:bodyPr wrap="square" lIns="0" tIns="0" rIns="0" bIns="0" rtlCol="0" anchor="t"/>
          <a:lstStyle/>
          <a:p>
            <a:pPr indent="0" marL="0">
              <a:buNone/>
            </a:pPr>
            <a:r>
              <a:rPr lang="en-US" sz="1900" dirty="0">
                <a:solidFill>
                  <a:srgbClr val="CFE3DF"/>
                </a:solidFill>
                <a:latin typeface="Calibri" pitchFamily="34" charset="0"/>
                <a:ea typeface="Calibri" pitchFamily="34" charset="-122"/>
                <a:cs typeface="Calibri" pitchFamily="34" charset="-120"/>
              </a:rPr>
              <a:t>Find and claim your family's money.</a:t>
            </a:r>
            <a:endParaRPr lang="en-US" sz="1900" dirty="0"/>
          </a:p>
        </p:txBody>
      </p:sp>
      <p:sp>
        <p:nvSpPr>
          <p:cNvPr id="5" name="Text 3"/>
          <p:cNvSpPr txBox="1"/>
          <p:nvPr/>
        </p:nvSpPr>
        <p:spPr>
          <a:xfrm>
            <a:off x="548640" y="2377440"/>
            <a:ext cx="4480560" cy="822960"/>
          </a:xfrm>
          <a:prstGeom prst="rect">
            <a:avLst/>
          </a:prstGeom>
          <a:noFill/>
          <a:ln/>
        </p:spPr>
        <p:txBody>
          <a:bodyPr wrap="square" lIns="0" tIns="0" rIns="0" bIns="0" rtlCol="0" anchor="t"/>
          <a:lstStyle/>
          <a:p>
            <a:pPr indent="0" marL="0">
              <a:buNone/>
            </a:pPr>
            <a:r>
              <a:rPr lang="en-US" sz="1300" dirty="0">
                <a:solidFill>
                  <a:srgbClr val="E8F1EF"/>
                </a:solidFill>
                <a:latin typeface="Calibri" pitchFamily="34" charset="0"/>
                <a:ea typeface="Calibri" pitchFamily="34" charset="-122"/>
                <a:cs typeface="Calibri" pitchFamily="34" charset="-120"/>
              </a:rPr>
              <a:t>A working product. Photograph old papers, and Virasat finds where the money is, explains what to do in your language, and fills the forms.</a:t>
            </a:r>
            <a:endParaRPr lang="en-US" sz="1300" dirty="0"/>
          </a:p>
        </p:txBody>
      </p:sp>
      <p:sp>
        <p:nvSpPr>
          <p:cNvPr id="6" name="Text 4"/>
          <p:cNvSpPr txBox="1"/>
          <p:nvPr/>
        </p:nvSpPr>
        <p:spPr>
          <a:xfrm>
            <a:off x="548640" y="3931920"/>
            <a:ext cx="365760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Team USV</a:t>
            </a:r>
            <a:endParaRPr lang="en-US" sz="1500" dirty="0"/>
          </a:p>
        </p:txBody>
      </p:sp>
      <p:sp>
        <p:nvSpPr>
          <p:cNvPr id="7" name="Text 5"/>
          <p:cNvSpPr txBox="1"/>
          <p:nvPr/>
        </p:nvSpPr>
        <p:spPr>
          <a:xfrm>
            <a:off x="548640" y="4279392"/>
            <a:ext cx="5486400" cy="274320"/>
          </a:xfrm>
          <a:prstGeom prst="rect">
            <a:avLst/>
          </a:prstGeom>
          <a:noFill/>
          <a:ln/>
        </p:spPr>
        <p:txBody>
          <a:bodyPr wrap="square" lIns="0" tIns="0" rIns="0" bIns="0" rtlCol="0" anchor="t"/>
          <a:lstStyle/>
          <a:p>
            <a:pPr indent="0" marL="0">
              <a:buNone/>
            </a:pPr>
            <a:r>
              <a:rPr lang="en-US" sz="1050" dirty="0">
                <a:solidFill>
                  <a:srgbClr val="9FC3BD"/>
                </a:solidFill>
                <a:latin typeface="Calibri" pitchFamily="34" charset="0"/>
                <a:ea typeface="Calibri" pitchFamily="34" charset="-122"/>
                <a:cs typeface="Calibri" pitchFamily="34" charset="-120"/>
              </a:rPr>
              <a:t>FinTech  ·  Generative AI  ·  Social Impact  ·  Accessibility</a:t>
            </a:r>
            <a:endParaRPr lang="en-US" sz="1050" dirty="0"/>
          </a:p>
        </p:txBody>
      </p:sp>
      <p:sp>
        <p:nvSpPr>
          <p:cNvPr id="8" name="Text 6">
            <a:hlinkClick r:id="rId1" tooltip=""/>
          </p:cNvPr>
          <p:cNvSpPr txBox="1"/>
          <p:nvPr/>
        </p:nvSpPr>
        <p:spPr>
          <a:xfrm>
            <a:off x="548640" y="3291840"/>
            <a:ext cx="4572000" cy="292608"/>
          </a:xfrm>
          <a:prstGeom prst="rect">
            <a:avLst/>
          </a:prstGeom>
          <a:noFill/>
          <a:ln/>
        </p:spPr>
        <p:txBody>
          <a:bodyPr wrap="square" lIns="0" tIns="0" rIns="0" bIns="0" rtlCol="0" anchor="t"/>
          <a:lstStyle/>
          <a:p>
            <a:pPr indent="0" marL="0">
              <a:buNone/>
            </a:pPr>
            <a:r>
              <a:rPr lang="en-US" sz="1300" b="1" u="sng" dirty="0">
                <a:solidFill>
                  <a:srgbClr val="E3A33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 it now: virasat-indol.vercel.app</a:t>
            </a:r>
            <a:endParaRPr lang="en-US" sz="1300" dirty="0"/>
          </a:p>
        </p:txBody>
      </p:sp>
      <p:sp>
        <p:nvSpPr>
          <p:cNvPr id="9" name="Text 7">
            <a:hlinkClick r:id="rId2" tooltip=""/>
          </p:cNvPr>
          <p:cNvSpPr txBox="1"/>
          <p:nvPr/>
        </p:nvSpPr>
        <p:spPr>
          <a:xfrm>
            <a:off x="548640" y="3611880"/>
            <a:ext cx="4572000" cy="274320"/>
          </a:xfrm>
          <a:prstGeom prst="rect">
            <a:avLst/>
          </a:prstGeom>
          <a:noFill/>
          <a:ln/>
        </p:spPr>
        <p:txBody>
          <a:bodyPr wrap="square" lIns="0" tIns="0" rIns="0" bIns="0" rtlCol="0" anchor="t"/>
          <a:lstStyle/>
          <a:p>
            <a:pPr indent="0" marL="0">
              <a:buNone/>
            </a:pPr>
            <a:r>
              <a:rPr lang="en-US" sz="1100" u="sng" dirty="0">
                <a:solidFill>
                  <a:srgbClr val="CFE3D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Code: github.com/usv240/virasat</a:t>
            </a:r>
            <a:endParaRPr lang="en-US" sz="1100" dirty="0"/>
          </a:p>
        </p:txBody>
      </p:sp>
      <p:sp>
        <p:nvSpPr>
          <p:cNvPr id="10" name="Shape 8"/>
          <p:cNvSpPr/>
          <p:nvPr/>
        </p:nvSpPr>
        <p:spPr>
          <a:xfrm>
            <a:off x="5541264" y="649224"/>
            <a:ext cx="1673352" cy="3547872"/>
          </a:xfrm>
          <a:prstGeom prst="roundRect">
            <a:avLst>
              <a:gd name="adj" fmla="val 3279"/>
            </a:avLst>
          </a:prstGeom>
          <a:solidFill>
            <a:srgbClr val="EDF2F1"/>
          </a:solidFill>
          <a:ln w="9525">
            <a:solidFill>
              <a:srgbClr val="D5E2DF"/>
            </a:solidFill>
            <a:prstDash val="solid"/>
          </a:ln>
          <a:effectLst>
            <a:outerShdw sx="100000" sy="100000" kx="0" ky="0" algn="bl" rotWithShape="0" blurRad="101600" dist="25400" dir="5400000">
              <a:srgbClr val="000000">
                <a:alpha val="12000"/>
              </a:srgbClr>
            </a:outerShdw>
          </a:effectLst>
        </p:spPr>
      </p:sp>
      <p:pic>
        <p:nvPicPr>
          <p:cNvPr id="11" name="Image 0" descr="preencoded.png">    </p:cNvPr>
          <p:cNvPicPr>
            <a:picLocks noChangeAspect="1"/>
          </p:cNvPicPr>
          <p:nvPr/>
        </p:nvPicPr>
        <p:blipFill>
          <a:blip r:embed="rId3"/>
          <a:stretch>
            <a:fillRect/>
          </a:stretch>
        </p:blipFill>
        <p:spPr>
          <a:xfrm>
            <a:off x="5577840" y="685800"/>
            <a:ext cx="1600200" cy="3474720"/>
          </a:xfrm>
          <a:prstGeom prst="rect">
            <a:avLst/>
          </a:prstGeom>
        </p:spPr>
      </p:pic>
      <p:sp>
        <p:nvSpPr>
          <p:cNvPr id="12" name="Text 9"/>
          <p:cNvSpPr txBox="1"/>
          <p:nvPr/>
        </p:nvSpPr>
        <p:spPr>
          <a:xfrm>
            <a:off x="7406640" y="1463040"/>
            <a:ext cx="1371600" cy="731520"/>
          </a:xfrm>
          <a:prstGeom prst="rect">
            <a:avLst/>
          </a:prstGeom>
          <a:noFill/>
          <a:ln/>
        </p:spPr>
        <p:txBody>
          <a:bodyPr wrap="square" lIns="0" tIns="0" rIns="0" bIns="0" rtlCol="0" anchor="t"/>
          <a:lstStyle/>
          <a:p>
            <a:pPr indent="0" marL="0">
              <a:buNone/>
            </a:pPr>
            <a:r>
              <a:rPr lang="en-US" sz="1100" dirty="0">
                <a:solidFill>
                  <a:srgbClr val="CFE3DF"/>
                </a:solidFill>
                <a:latin typeface="Calibri" pitchFamily="34" charset="0"/>
                <a:ea typeface="Calibri" pitchFamily="34" charset="-122"/>
                <a:cs typeface="Calibri" pitchFamily="34" charset="-120"/>
              </a:rPr>
              <a:t>Working in Hindi,</a:t>
            </a:r>
            <a:endParaRPr lang="en-US" sz="1100" dirty="0"/>
          </a:p>
          <a:p>
            <a:pPr indent="0" marL="0">
              <a:buNone/>
            </a:pPr>
            <a:r>
              <a:rPr lang="en-US" sz="1100" dirty="0">
                <a:solidFill>
                  <a:srgbClr val="CFE3DF"/>
                </a:solidFill>
                <a:latin typeface="Calibri" pitchFamily="34" charset="0"/>
                <a:ea typeface="Calibri" pitchFamily="34" charset="-122"/>
                <a:cs typeface="Calibri" pitchFamily="34" charset="-120"/>
              </a:rPr>
              <a:t>on a phone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01  ·  PROBLEM STATEMENT</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Lakhs of families have money waiting for them.</a:t>
            </a:r>
            <a:endParaRPr lang="en-US" sz="2600" dirty="0"/>
          </a:p>
          <a:p>
            <a:pPr indent="0" marL="0">
              <a:buNone/>
            </a:pPr>
            <a:r>
              <a:rPr lang="en-US" sz="2600" b="1" dirty="0">
                <a:solidFill>
                  <a:srgbClr val="1B2424"/>
                </a:solidFill>
                <a:latin typeface="Cambria" pitchFamily="34" charset="0"/>
                <a:ea typeface="Cambria" pitchFamily="34" charset="-122"/>
                <a:cs typeface="Cambria" pitchFamily="34" charset="-120"/>
              </a:rPr>
              <a:t>They just do not know it.</a:t>
            </a:r>
            <a:endParaRPr lang="en-US" sz="2600" dirty="0"/>
          </a:p>
        </p:txBody>
      </p:sp>
      <p:sp>
        <p:nvSpPr>
          <p:cNvPr id="4" name="Shape 2"/>
          <p:cNvSpPr/>
          <p:nvPr/>
        </p:nvSpPr>
        <p:spPr>
          <a:xfrm>
            <a:off x="457200" y="1645920"/>
            <a:ext cx="1920240" cy="1691640"/>
          </a:xfrm>
          <a:prstGeom prst="roundRect">
            <a:avLst>
              <a:gd name="adj" fmla="val 4324"/>
            </a:avLst>
          </a:prstGeom>
          <a:solidFill>
            <a:srgbClr val="0F3D3E"/>
          </a:solidFill>
          <a:ln w="9525">
            <a:solidFill>
              <a:srgbClr val="0F3D3E"/>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21792" y="1810512"/>
            <a:ext cx="1691640" cy="502920"/>
          </a:xfrm>
          <a:prstGeom prst="rect">
            <a:avLst/>
          </a:prstGeom>
          <a:noFill/>
          <a:ln/>
        </p:spPr>
        <p:txBody>
          <a:bodyPr wrap="square" lIns="0" tIns="0" rIns="0" bIns="0" rtlCol="0" anchor="t"/>
          <a:lstStyle/>
          <a:p>
            <a:pPr indent="0" marL="0">
              <a:buNone/>
            </a:pPr>
            <a:r>
              <a:rPr lang="en-US" sz="2300" b="1" dirty="0">
                <a:solidFill>
                  <a:srgbClr val="E3A33B"/>
                </a:solidFill>
                <a:latin typeface="Cambria" pitchFamily="34" charset="0"/>
                <a:ea typeface="Cambria" pitchFamily="34" charset="-122"/>
                <a:cs typeface="Cambria" pitchFamily="34" charset="-120"/>
              </a:rPr>
              <a:t>₹1.84 L cr</a:t>
            </a:r>
            <a:endParaRPr lang="en-US" sz="2300" dirty="0"/>
          </a:p>
        </p:txBody>
      </p:sp>
      <p:sp>
        <p:nvSpPr>
          <p:cNvPr id="6" name="Text 4"/>
          <p:cNvSpPr txBox="1"/>
          <p:nvPr/>
        </p:nvSpPr>
        <p:spPr>
          <a:xfrm>
            <a:off x="621792" y="2359152"/>
            <a:ext cx="1627632" cy="868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unclaimed across banks, insurance, PF and shares</a:t>
            </a:r>
            <a:endParaRPr lang="en-US" sz="1100" dirty="0"/>
          </a:p>
        </p:txBody>
      </p:sp>
      <p:sp>
        <p:nvSpPr>
          <p:cNvPr id="7" name="Text 5"/>
          <p:cNvSpPr txBox="1"/>
          <p:nvPr/>
        </p:nvSpPr>
        <p:spPr>
          <a:xfrm>
            <a:off x="1938528" y="3090672"/>
            <a:ext cx="347472" cy="182880"/>
          </a:xfrm>
          <a:prstGeom prst="rect">
            <a:avLst/>
          </a:prstGeom>
          <a:noFill/>
          <a:ln/>
        </p:spPr>
        <p:txBody>
          <a:bodyPr wrap="square" lIns="0" tIns="0" rIns="0" bIns="0" rtlCol="0" anchor="t"/>
          <a:lstStyle/>
          <a:p>
            <a:pPr algn="r" indent="0" marL="0">
              <a:buNone/>
            </a:pPr>
            <a:r>
              <a:rPr lang="en-US" sz="800" dirty="0">
                <a:solidFill>
                  <a:srgbClr val="9FC3BD"/>
                </a:solidFill>
                <a:latin typeface="Calibri" pitchFamily="34" charset="0"/>
                <a:ea typeface="Calibri" pitchFamily="34" charset="-122"/>
                <a:cs typeface="Calibri" pitchFamily="34" charset="-120"/>
              </a:rPr>
              <a:t>[1]</a:t>
            </a:r>
            <a:endParaRPr lang="en-US" sz="800" dirty="0"/>
          </a:p>
        </p:txBody>
      </p:sp>
      <p:sp>
        <p:nvSpPr>
          <p:cNvPr id="8" name="Shape 6"/>
          <p:cNvSpPr/>
          <p:nvPr/>
        </p:nvSpPr>
        <p:spPr>
          <a:xfrm>
            <a:off x="2542032" y="1645920"/>
            <a:ext cx="1920240" cy="1691640"/>
          </a:xfrm>
          <a:prstGeom prst="roundRect">
            <a:avLst>
              <a:gd name="adj" fmla="val 4324"/>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2706624" y="1810512"/>
            <a:ext cx="1691640" cy="502920"/>
          </a:xfrm>
          <a:prstGeom prst="rect">
            <a:avLst/>
          </a:prstGeom>
          <a:noFill/>
          <a:ln/>
        </p:spPr>
        <p:txBody>
          <a:bodyPr wrap="square" lIns="0" tIns="0" rIns="0" bIns="0" rtlCol="0" anchor="t"/>
          <a:lstStyle/>
          <a:p>
            <a:pPr indent="0" marL="0">
              <a:buNone/>
            </a:pPr>
            <a:r>
              <a:rPr lang="en-US" sz="2300" b="1" dirty="0">
                <a:solidFill>
                  <a:srgbClr val="0F3D3E"/>
                </a:solidFill>
                <a:latin typeface="Cambria" pitchFamily="34" charset="0"/>
                <a:ea typeface="Cambria" pitchFamily="34" charset="-122"/>
                <a:cs typeface="Cambria" pitchFamily="34" charset="-120"/>
              </a:rPr>
              <a:t>₹72,454 cr</a:t>
            </a:r>
            <a:endParaRPr lang="en-US" sz="2300" dirty="0"/>
          </a:p>
        </p:txBody>
      </p:sp>
      <p:sp>
        <p:nvSpPr>
          <p:cNvPr id="10" name="Text 8"/>
          <p:cNvSpPr txBox="1"/>
          <p:nvPr/>
        </p:nvSpPr>
        <p:spPr>
          <a:xfrm>
            <a:off x="2706624" y="2359152"/>
            <a:ext cx="1627632" cy="868680"/>
          </a:xfrm>
          <a:prstGeom prst="rect">
            <a:avLst/>
          </a:prstGeom>
          <a:noFill/>
          <a:ln/>
        </p:spPr>
        <p:txBody>
          <a:bodyPr wrap="square" lIns="0" tIns="0" rIns="0" bIns="0" rtlCol="0" anchor="t"/>
          <a:lstStyle/>
          <a:p>
            <a:pPr indent="0" marL="0">
              <a:buNone/>
            </a:pPr>
            <a:r>
              <a:rPr lang="en-US" sz="1100" dirty="0">
                <a:solidFill>
                  <a:srgbClr val="1B2424"/>
                </a:solidFill>
                <a:latin typeface="Calibri" pitchFamily="34" charset="0"/>
                <a:ea typeface="Calibri" pitchFamily="34" charset="-122"/>
                <a:cs typeface="Calibri" pitchFamily="34" charset="-120"/>
              </a:rPr>
              <a:t>in old bank accounts alone, parked with RBI</a:t>
            </a:r>
            <a:endParaRPr lang="en-US" sz="1100" dirty="0"/>
          </a:p>
        </p:txBody>
      </p:sp>
      <p:sp>
        <p:nvSpPr>
          <p:cNvPr id="11" name="Text 9"/>
          <p:cNvSpPr txBox="1"/>
          <p:nvPr/>
        </p:nvSpPr>
        <p:spPr>
          <a:xfrm>
            <a:off x="4023360" y="3090672"/>
            <a:ext cx="347472" cy="182880"/>
          </a:xfrm>
          <a:prstGeom prst="rect">
            <a:avLst/>
          </a:prstGeom>
          <a:noFill/>
          <a:ln/>
        </p:spPr>
        <p:txBody>
          <a:bodyPr wrap="square" lIns="0" tIns="0" rIns="0" bIns="0" rtlCol="0" anchor="t"/>
          <a:lstStyle/>
          <a:p>
            <a:pPr algn="r" indent="0" marL="0">
              <a:buNone/>
            </a:pPr>
            <a:r>
              <a:rPr lang="en-US" sz="800" dirty="0">
                <a:solidFill>
                  <a:srgbClr val="5B6B6A"/>
                </a:solidFill>
                <a:latin typeface="Calibri" pitchFamily="34" charset="0"/>
                <a:ea typeface="Calibri" pitchFamily="34" charset="-122"/>
                <a:cs typeface="Calibri" pitchFamily="34" charset="-120"/>
              </a:rPr>
              <a:t>[2]</a:t>
            </a:r>
            <a:endParaRPr lang="en-US" sz="800" dirty="0"/>
          </a:p>
        </p:txBody>
      </p:sp>
      <p:sp>
        <p:nvSpPr>
          <p:cNvPr id="12" name="Shape 10"/>
          <p:cNvSpPr/>
          <p:nvPr/>
        </p:nvSpPr>
        <p:spPr>
          <a:xfrm>
            <a:off x="4626864" y="1645920"/>
            <a:ext cx="1920240" cy="1691640"/>
          </a:xfrm>
          <a:prstGeom prst="roundRect">
            <a:avLst>
              <a:gd name="adj" fmla="val 4324"/>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4791456" y="1810512"/>
            <a:ext cx="1691640" cy="502920"/>
          </a:xfrm>
          <a:prstGeom prst="rect">
            <a:avLst/>
          </a:prstGeom>
          <a:noFill/>
          <a:ln/>
        </p:spPr>
        <p:txBody>
          <a:bodyPr wrap="square" lIns="0" tIns="0" rIns="0" bIns="0" rtlCol="0" anchor="t"/>
          <a:lstStyle/>
          <a:p>
            <a:pPr indent="0" marL="0">
              <a:buNone/>
            </a:pPr>
            <a:r>
              <a:rPr lang="en-US" sz="2300" b="1" dirty="0">
                <a:solidFill>
                  <a:srgbClr val="0F3D3E"/>
                </a:solidFill>
                <a:latin typeface="Cambria" pitchFamily="34" charset="0"/>
                <a:ea typeface="Cambria" pitchFamily="34" charset="-122"/>
                <a:cs typeface="Cambria" pitchFamily="34" charset="-120"/>
              </a:rPr>
              <a:t>20 lakh</a:t>
            </a:r>
            <a:endParaRPr lang="en-US" sz="2300" dirty="0"/>
          </a:p>
        </p:txBody>
      </p:sp>
      <p:sp>
        <p:nvSpPr>
          <p:cNvPr id="14" name="Text 12"/>
          <p:cNvSpPr txBox="1"/>
          <p:nvPr/>
        </p:nvSpPr>
        <p:spPr>
          <a:xfrm>
            <a:off x="4791456" y="2359152"/>
            <a:ext cx="1627632" cy="868680"/>
          </a:xfrm>
          <a:prstGeom prst="rect">
            <a:avLst/>
          </a:prstGeom>
          <a:noFill/>
          <a:ln/>
        </p:spPr>
        <p:txBody>
          <a:bodyPr wrap="square" lIns="0" tIns="0" rIns="0" bIns="0" rtlCol="0" anchor="t"/>
          <a:lstStyle/>
          <a:p>
            <a:pPr indent="0" marL="0">
              <a:buNone/>
            </a:pPr>
            <a:r>
              <a:rPr lang="en-US" sz="1100" dirty="0">
                <a:solidFill>
                  <a:srgbClr val="1B2424"/>
                </a:solidFill>
                <a:latin typeface="Calibri" pitchFamily="34" charset="0"/>
                <a:ea typeface="Calibri" pitchFamily="34" charset="-122"/>
                <a:cs typeface="Calibri" pitchFamily="34" charset="-120"/>
              </a:rPr>
              <a:t>people have ever used RBI's search portal, in a country of 140 crore</a:t>
            </a:r>
            <a:endParaRPr lang="en-US" sz="1100" dirty="0"/>
          </a:p>
        </p:txBody>
      </p:sp>
      <p:sp>
        <p:nvSpPr>
          <p:cNvPr id="15" name="Text 13"/>
          <p:cNvSpPr txBox="1"/>
          <p:nvPr/>
        </p:nvSpPr>
        <p:spPr>
          <a:xfrm>
            <a:off x="6108192" y="3090672"/>
            <a:ext cx="347472" cy="182880"/>
          </a:xfrm>
          <a:prstGeom prst="rect">
            <a:avLst/>
          </a:prstGeom>
          <a:noFill/>
          <a:ln/>
        </p:spPr>
        <p:txBody>
          <a:bodyPr wrap="square" lIns="0" tIns="0" rIns="0" bIns="0" rtlCol="0" anchor="t"/>
          <a:lstStyle/>
          <a:p>
            <a:pPr algn="r" indent="0" marL="0">
              <a:buNone/>
            </a:pPr>
            <a:r>
              <a:rPr lang="en-US" sz="800" dirty="0">
                <a:solidFill>
                  <a:srgbClr val="5B6B6A"/>
                </a:solidFill>
                <a:latin typeface="Calibri" pitchFamily="34" charset="0"/>
                <a:ea typeface="Calibri" pitchFamily="34" charset="-122"/>
                <a:cs typeface="Calibri" pitchFamily="34" charset="-120"/>
              </a:rPr>
              <a:t>[3]</a:t>
            </a:r>
            <a:endParaRPr lang="en-US" sz="800" dirty="0"/>
          </a:p>
        </p:txBody>
      </p:sp>
      <p:sp>
        <p:nvSpPr>
          <p:cNvPr id="16" name="Shape 14"/>
          <p:cNvSpPr/>
          <p:nvPr/>
        </p:nvSpPr>
        <p:spPr>
          <a:xfrm>
            <a:off x="6711696" y="1645920"/>
            <a:ext cx="1920240" cy="1691640"/>
          </a:xfrm>
          <a:prstGeom prst="roundRect">
            <a:avLst>
              <a:gd name="adj" fmla="val 4324"/>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6876288" y="1810512"/>
            <a:ext cx="1691640" cy="502920"/>
          </a:xfrm>
          <a:prstGeom prst="rect">
            <a:avLst/>
          </a:prstGeom>
          <a:noFill/>
          <a:ln/>
        </p:spPr>
        <p:txBody>
          <a:bodyPr wrap="square" lIns="0" tIns="0" rIns="0" bIns="0" rtlCol="0" anchor="t"/>
          <a:lstStyle/>
          <a:p>
            <a:pPr indent="0" marL="0">
              <a:buNone/>
            </a:pPr>
            <a:r>
              <a:rPr lang="en-US" sz="2300" b="1" dirty="0">
                <a:solidFill>
                  <a:srgbClr val="0F3D3E"/>
                </a:solidFill>
                <a:latin typeface="Cambria" pitchFamily="34" charset="0"/>
                <a:ea typeface="Cambria" pitchFamily="34" charset="-122"/>
                <a:cs typeface="Cambria" pitchFamily="34" charset="-120"/>
              </a:rPr>
              <a:t>₹38,700</a:t>
            </a:r>
            <a:endParaRPr lang="en-US" sz="2300" dirty="0"/>
          </a:p>
        </p:txBody>
      </p:sp>
      <p:sp>
        <p:nvSpPr>
          <p:cNvPr id="18" name="Text 16"/>
          <p:cNvSpPr txBox="1"/>
          <p:nvPr/>
        </p:nvSpPr>
        <p:spPr>
          <a:xfrm>
            <a:off x="6876288" y="2359152"/>
            <a:ext cx="1627632" cy="868680"/>
          </a:xfrm>
          <a:prstGeom prst="rect">
            <a:avLst/>
          </a:prstGeom>
          <a:noFill/>
          <a:ln/>
        </p:spPr>
        <p:txBody>
          <a:bodyPr wrap="square" lIns="0" tIns="0" rIns="0" bIns="0" rtlCol="0" anchor="t"/>
          <a:lstStyle/>
          <a:p>
            <a:pPr indent="0" marL="0">
              <a:buNone/>
            </a:pPr>
            <a:r>
              <a:rPr lang="en-US" sz="1100" dirty="0">
                <a:solidFill>
                  <a:srgbClr val="1B2424"/>
                </a:solidFill>
                <a:latin typeface="Calibri" pitchFamily="34" charset="0"/>
                <a:ea typeface="Calibri" pitchFamily="34" charset="-122"/>
                <a:cs typeface="Calibri" pitchFamily="34" charset="-120"/>
              </a:rPr>
              <a:t>average returned per family in Gujarat's claim camps</a:t>
            </a:r>
            <a:endParaRPr lang="en-US" sz="1100" dirty="0"/>
          </a:p>
        </p:txBody>
      </p:sp>
      <p:sp>
        <p:nvSpPr>
          <p:cNvPr id="19" name="Text 17"/>
          <p:cNvSpPr txBox="1"/>
          <p:nvPr/>
        </p:nvSpPr>
        <p:spPr>
          <a:xfrm>
            <a:off x="8193024" y="3090672"/>
            <a:ext cx="347472" cy="182880"/>
          </a:xfrm>
          <a:prstGeom prst="rect">
            <a:avLst/>
          </a:prstGeom>
          <a:noFill/>
          <a:ln/>
        </p:spPr>
        <p:txBody>
          <a:bodyPr wrap="square" lIns="0" tIns="0" rIns="0" bIns="0" rtlCol="0" anchor="t"/>
          <a:lstStyle/>
          <a:p>
            <a:pPr algn="r" indent="0" marL="0">
              <a:buNone/>
            </a:pPr>
            <a:r>
              <a:rPr lang="en-US" sz="800" dirty="0">
                <a:solidFill>
                  <a:srgbClr val="5B6B6A"/>
                </a:solidFill>
                <a:latin typeface="Calibri" pitchFamily="34" charset="0"/>
                <a:ea typeface="Calibri" pitchFamily="34" charset="-122"/>
                <a:cs typeface="Calibri" pitchFamily="34" charset="-120"/>
              </a:rPr>
              <a:t>[4]</a:t>
            </a:r>
            <a:endParaRPr lang="en-US" sz="800" dirty="0"/>
          </a:p>
        </p:txBody>
      </p:sp>
      <p:sp>
        <p:nvSpPr>
          <p:cNvPr id="20" name="Shape 18"/>
          <p:cNvSpPr/>
          <p:nvPr/>
        </p:nvSpPr>
        <p:spPr>
          <a:xfrm>
            <a:off x="457200" y="3611880"/>
            <a:ext cx="8229600" cy="1005840"/>
          </a:xfrm>
          <a:prstGeom prst="roundRect">
            <a:avLst>
              <a:gd name="adj" fmla="val 7273"/>
            </a:avLst>
          </a:prstGeom>
          <a:solidFill>
            <a:srgbClr val="FBF1DF"/>
          </a:solidFill>
          <a:ln w="9525">
            <a:solidFill>
              <a:srgbClr val="FBF1DF"/>
            </a:solidFill>
            <a:prstDash val="solid"/>
          </a:ln>
          <a:effectLst>
            <a:outerShdw sx="100000" sy="100000" kx="0" ky="0" algn="bl" rotWithShape="0" blurRad="101600" dist="25400" dir="5400000">
              <a:srgbClr val="000000">
                <a:alpha val="12000"/>
              </a:srgbClr>
            </a:outerShdw>
          </a:effectLst>
        </p:spPr>
      </p:sp>
      <p:sp>
        <p:nvSpPr>
          <p:cNvPr id="21" name="Shape 19"/>
          <p:cNvSpPr/>
          <p:nvPr/>
        </p:nvSpPr>
        <p:spPr>
          <a:xfrm>
            <a:off x="658368" y="3858768"/>
            <a:ext cx="502920" cy="502920"/>
          </a:xfrm>
          <a:prstGeom prst="ellipse">
            <a:avLst/>
          </a:prstGeom>
          <a:solidFill>
            <a:srgbClr val="E3A33B"/>
          </a:solidFill>
          <a:ln w="12700">
            <a:solidFill>
              <a:srgbClr val="E3A33B"/>
            </a:solidFill>
            <a:prstDash val="solid"/>
          </a:ln>
        </p:spPr>
      </p:sp>
      <p:pic>
        <p:nvPicPr>
          <p:cNvPr id="22" name="Image 0" descr="preencoded.png">    </p:cNvPr>
          <p:cNvPicPr>
            <a:picLocks noChangeAspect="1"/>
          </p:cNvPicPr>
          <p:nvPr/>
        </p:nvPicPr>
        <p:blipFill>
          <a:blip r:embed="rId1"/>
          <a:stretch>
            <a:fillRect/>
          </a:stretch>
        </p:blipFill>
        <p:spPr>
          <a:xfrm>
            <a:off x="789127" y="3989527"/>
            <a:ext cx="241402" cy="241402"/>
          </a:xfrm>
          <a:prstGeom prst="rect">
            <a:avLst/>
          </a:prstGeom>
        </p:spPr>
      </p:pic>
      <p:sp>
        <p:nvSpPr>
          <p:cNvPr id="23" name="Text 20"/>
          <p:cNvSpPr txBox="1"/>
          <p:nvPr/>
        </p:nvSpPr>
        <p:spPr>
          <a:xfrm>
            <a:off x="1371600" y="3767328"/>
            <a:ext cx="7132320" cy="73152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Why it stays stuck: </a:t>
            </a:r>
            <a:pPr indent="0" marL="0">
              <a:buNone/>
            </a:pPr>
            <a:r>
              <a:rPr lang="en-US" sz="1250" dirty="0">
                <a:solidFill>
                  <a:srgbClr val="1B2424"/>
                </a:solidFill>
                <a:latin typeface="Calibri" pitchFamily="34" charset="0"/>
                <a:ea typeface="Calibri" pitchFamily="34" charset="-122"/>
                <a:cs typeface="Calibri" pitchFamily="34" charset="-120"/>
              </a:rPr>
              <a:t>nobody knew it existed; it is spread across six separate portals, mostly in English; the rules are confusing, so agents take 5 to 15 percent; and accounts without a nominee become new unclaimed money every year.</a:t>
            </a:r>
            <a:endParaRPr lang="en-US" sz="1250" dirty="0"/>
          </a:p>
        </p:txBody>
      </p:sp>
      <p:sp>
        <p:nvSpPr>
          <p:cNvPr id="24" name="Text 21"/>
          <p:cNvSpPr txBox="1"/>
          <p:nvPr/>
        </p:nvSpPr>
        <p:spPr>
          <a:xfrm>
            <a:off x="457200" y="4828032"/>
            <a:ext cx="8229600" cy="228600"/>
          </a:xfrm>
          <a:prstGeom prst="rect">
            <a:avLst/>
          </a:prstGeom>
          <a:noFill/>
          <a:ln/>
        </p:spPr>
        <p:txBody>
          <a:bodyPr wrap="square" lIns="0" tIns="0" rIns="0" bIns="0" rtlCol="0" anchor="ctr"/>
          <a:lstStyle/>
          <a:p>
            <a:pPr indent="0" marL="0">
              <a:buNone/>
            </a:pPr>
            <a:r>
              <a:rPr lang="en-US" sz="800" dirty="0">
                <a:solidFill>
                  <a:srgbClr val="5B6B6A"/>
                </a:solidFill>
                <a:latin typeface="Calibri" pitchFamily="34" charset="0"/>
                <a:ea typeface="Calibri" pitchFamily="34" charset="-122"/>
                <a:cs typeface="Calibri" pitchFamily="34" charset="-120"/>
              </a:rPr>
              <a:t>Sources: [1] Union Finance Minister, Oct 2025  [2] Govt and RBI, Jan 2026  [3] RBI UDGAM, Jul 2025  [4] All India Radio. Full list on the References page of the site.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6F0EE"/>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02  ·  PROPOSED SOLUTION</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Take a photo. Get your family's money back.</a:t>
            </a:r>
            <a:endParaRPr lang="en-US" sz="2600" dirty="0"/>
          </a:p>
        </p:txBody>
      </p:sp>
      <p:sp>
        <p:nvSpPr>
          <p:cNvPr id="4" name="Shape 2"/>
          <p:cNvSpPr/>
          <p:nvPr/>
        </p:nvSpPr>
        <p:spPr>
          <a:xfrm>
            <a:off x="457200" y="1417320"/>
            <a:ext cx="1874520" cy="2377440"/>
          </a:xfrm>
          <a:prstGeom prst="roundRect">
            <a:avLst>
              <a:gd name="adj" fmla="val 3902"/>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600200"/>
            <a:ext cx="502920" cy="502920"/>
          </a:xfrm>
          <a:prstGeom prst="ellipse">
            <a:avLst/>
          </a:prstGeom>
          <a:solidFill>
            <a:srgbClr val="0F3D3E"/>
          </a:solidFill>
          <a:ln w="12700">
            <a:solidFill>
              <a:srgbClr val="0F3D3E"/>
            </a:solidFill>
            <a:prstDash val="solid"/>
          </a:ln>
        </p:spPr>
      </p:sp>
      <p:pic>
        <p:nvPicPr>
          <p:cNvPr id="6" name="Image 0" descr="preencoded.png">    </p:cNvPr>
          <p:cNvPicPr>
            <a:picLocks noChangeAspect="1"/>
          </p:cNvPicPr>
          <p:nvPr/>
        </p:nvPicPr>
        <p:blipFill>
          <a:blip r:embed="rId1"/>
          <a:stretch>
            <a:fillRect/>
          </a:stretch>
        </p:blipFill>
        <p:spPr>
          <a:xfrm>
            <a:off x="770839" y="1730959"/>
            <a:ext cx="241402" cy="241402"/>
          </a:xfrm>
          <a:prstGeom prst="rect">
            <a:avLst/>
          </a:prstGeom>
        </p:spPr>
      </p:pic>
      <p:sp>
        <p:nvSpPr>
          <p:cNvPr id="7" name="Text 4"/>
          <p:cNvSpPr txBox="1"/>
          <p:nvPr/>
        </p:nvSpPr>
        <p:spPr>
          <a:xfrm>
            <a:off x="640080" y="2212848"/>
            <a:ext cx="1554480" cy="274320"/>
          </a:xfrm>
          <a:prstGeom prst="rect">
            <a:avLst/>
          </a:prstGeom>
          <a:noFill/>
          <a:ln/>
        </p:spPr>
        <p:txBody>
          <a:bodyPr wrap="square" lIns="0" tIns="0" rIns="0" bIns="0" rtlCol="0" anchor="t"/>
          <a:lstStyle/>
          <a:p>
            <a:pPr indent="0" marL="0">
              <a:buNone/>
            </a:pPr>
            <a:r>
              <a:rPr lang="en-US" sz="1250" b="1" spc="100" kern="0" dirty="0">
                <a:solidFill>
                  <a:srgbClr val="0F3D3E"/>
                </a:solidFill>
                <a:latin typeface="Calibri" pitchFamily="34" charset="0"/>
                <a:ea typeface="Calibri" pitchFamily="34" charset="-122"/>
                <a:cs typeface="Calibri" pitchFamily="34" charset="-120"/>
              </a:rPr>
              <a:t>1  FIND</a:t>
            </a:r>
            <a:endParaRPr lang="en-US" sz="1250" dirty="0"/>
          </a:p>
        </p:txBody>
      </p:sp>
      <p:sp>
        <p:nvSpPr>
          <p:cNvPr id="8" name="Text 5"/>
          <p:cNvSpPr txBox="1"/>
          <p:nvPr/>
        </p:nvSpPr>
        <p:spPr>
          <a:xfrm>
            <a:off x="640080" y="2514600"/>
            <a:ext cx="1572768" cy="118872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Photograph old papers, or upload the income tax statement. Virasat lists every place the family may have money, and the exact portal to search.</a:t>
            </a:r>
            <a:endParaRPr lang="en-US" sz="1050" dirty="0"/>
          </a:p>
        </p:txBody>
      </p:sp>
      <p:sp>
        <p:nvSpPr>
          <p:cNvPr id="9" name="Shape 6"/>
          <p:cNvSpPr/>
          <p:nvPr/>
        </p:nvSpPr>
        <p:spPr>
          <a:xfrm>
            <a:off x="2377440" y="2514600"/>
            <a:ext cx="146304" cy="228600"/>
          </a:xfrm>
          <a:prstGeom prst="chevron">
            <a:avLst/>
          </a:prstGeom>
          <a:solidFill>
            <a:srgbClr val="E3A33B"/>
          </a:solidFill>
          <a:ln w="12700">
            <a:solidFill>
              <a:srgbClr val="E3A33B"/>
            </a:solidFill>
            <a:prstDash val="solid"/>
          </a:ln>
        </p:spPr>
      </p:sp>
      <p:sp>
        <p:nvSpPr>
          <p:cNvPr id="10" name="Shape 7"/>
          <p:cNvSpPr/>
          <p:nvPr/>
        </p:nvSpPr>
        <p:spPr>
          <a:xfrm>
            <a:off x="2560320" y="1417320"/>
            <a:ext cx="1874520" cy="2377440"/>
          </a:xfrm>
          <a:prstGeom prst="roundRect">
            <a:avLst>
              <a:gd name="adj" fmla="val 3902"/>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2743200" y="1600200"/>
            <a:ext cx="502920" cy="502920"/>
          </a:xfrm>
          <a:prstGeom prst="ellipse">
            <a:avLst/>
          </a:prstGeom>
          <a:solidFill>
            <a:srgbClr val="0F3D3E"/>
          </a:solidFill>
          <a:ln w="12700">
            <a:solidFill>
              <a:srgbClr val="0F3D3E"/>
            </a:solidFill>
            <a:prstDash val="solid"/>
          </a:ln>
        </p:spPr>
      </p:sp>
      <p:pic>
        <p:nvPicPr>
          <p:cNvPr id="12" name="Image 1" descr="preencoded.png">    </p:cNvPr>
          <p:cNvPicPr>
            <a:picLocks noChangeAspect="1"/>
          </p:cNvPicPr>
          <p:nvPr/>
        </p:nvPicPr>
        <p:blipFill>
          <a:blip r:embed="rId2"/>
          <a:stretch>
            <a:fillRect/>
          </a:stretch>
        </p:blipFill>
        <p:spPr>
          <a:xfrm>
            <a:off x="2873959" y="1730959"/>
            <a:ext cx="241402" cy="241402"/>
          </a:xfrm>
          <a:prstGeom prst="rect">
            <a:avLst/>
          </a:prstGeom>
        </p:spPr>
      </p:pic>
      <p:sp>
        <p:nvSpPr>
          <p:cNvPr id="13" name="Text 9"/>
          <p:cNvSpPr txBox="1"/>
          <p:nvPr/>
        </p:nvSpPr>
        <p:spPr>
          <a:xfrm>
            <a:off x="2743200" y="2212848"/>
            <a:ext cx="1554480" cy="274320"/>
          </a:xfrm>
          <a:prstGeom prst="rect">
            <a:avLst/>
          </a:prstGeom>
          <a:noFill/>
          <a:ln/>
        </p:spPr>
        <p:txBody>
          <a:bodyPr wrap="square" lIns="0" tIns="0" rIns="0" bIns="0" rtlCol="0" anchor="t"/>
          <a:lstStyle/>
          <a:p>
            <a:pPr indent="0" marL="0">
              <a:buNone/>
            </a:pPr>
            <a:r>
              <a:rPr lang="en-US" sz="1250" b="1" spc="100" kern="0" dirty="0">
                <a:solidFill>
                  <a:srgbClr val="0F3D3E"/>
                </a:solidFill>
                <a:latin typeface="Calibri" pitchFamily="34" charset="0"/>
                <a:ea typeface="Calibri" pitchFamily="34" charset="-122"/>
                <a:cs typeface="Calibri" pitchFamily="34" charset="-120"/>
              </a:rPr>
              <a:t>2  CLAIM</a:t>
            </a:r>
            <a:endParaRPr lang="en-US" sz="1250" dirty="0"/>
          </a:p>
        </p:txBody>
      </p:sp>
      <p:sp>
        <p:nvSpPr>
          <p:cNvPr id="14" name="Text 10"/>
          <p:cNvSpPr txBox="1"/>
          <p:nvPr/>
        </p:nvSpPr>
        <p:spPr>
          <a:xfrm>
            <a:off x="2743200" y="2514600"/>
            <a:ext cx="1572768" cy="118872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Three plain questions. A tested rule engine picks the route and generates the filled claim pack as a PDF.</a:t>
            </a:r>
            <a:endParaRPr lang="en-US" sz="1050" dirty="0"/>
          </a:p>
        </p:txBody>
      </p:sp>
      <p:sp>
        <p:nvSpPr>
          <p:cNvPr id="15" name="Shape 11"/>
          <p:cNvSpPr/>
          <p:nvPr/>
        </p:nvSpPr>
        <p:spPr>
          <a:xfrm>
            <a:off x="4480560" y="2514600"/>
            <a:ext cx="146304" cy="228600"/>
          </a:xfrm>
          <a:prstGeom prst="chevron">
            <a:avLst/>
          </a:prstGeom>
          <a:solidFill>
            <a:srgbClr val="E3A33B"/>
          </a:solidFill>
          <a:ln w="12700">
            <a:solidFill>
              <a:srgbClr val="E3A33B"/>
            </a:solidFill>
            <a:prstDash val="solid"/>
          </a:ln>
        </p:spPr>
      </p:sp>
      <p:sp>
        <p:nvSpPr>
          <p:cNvPr id="16" name="Shape 12"/>
          <p:cNvSpPr/>
          <p:nvPr/>
        </p:nvSpPr>
        <p:spPr>
          <a:xfrm>
            <a:off x="4663440" y="1417320"/>
            <a:ext cx="1874520" cy="2377440"/>
          </a:xfrm>
          <a:prstGeom prst="roundRect">
            <a:avLst>
              <a:gd name="adj" fmla="val 3902"/>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4846320" y="1600200"/>
            <a:ext cx="502920" cy="502920"/>
          </a:xfrm>
          <a:prstGeom prst="ellipse">
            <a:avLst/>
          </a:prstGeom>
          <a:solidFill>
            <a:srgbClr val="0F3D3E"/>
          </a:solidFill>
          <a:ln w="12700">
            <a:solidFill>
              <a:srgbClr val="0F3D3E"/>
            </a:solidFill>
            <a:prstDash val="solid"/>
          </a:ln>
        </p:spPr>
      </p:sp>
      <p:pic>
        <p:nvPicPr>
          <p:cNvPr id="18" name="Image 2" descr="preencoded.png">    </p:cNvPr>
          <p:cNvPicPr>
            <a:picLocks noChangeAspect="1"/>
          </p:cNvPicPr>
          <p:nvPr/>
        </p:nvPicPr>
        <p:blipFill>
          <a:blip r:embed="rId3"/>
          <a:stretch>
            <a:fillRect/>
          </a:stretch>
        </p:blipFill>
        <p:spPr>
          <a:xfrm>
            <a:off x="4977079" y="1730959"/>
            <a:ext cx="241402" cy="241402"/>
          </a:xfrm>
          <a:prstGeom prst="rect">
            <a:avLst/>
          </a:prstGeom>
        </p:spPr>
      </p:pic>
      <p:sp>
        <p:nvSpPr>
          <p:cNvPr id="19" name="Text 14"/>
          <p:cNvSpPr txBox="1"/>
          <p:nvPr/>
        </p:nvSpPr>
        <p:spPr>
          <a:xfrm>
            <a:off x="4846320" y="2212848"/>
            <a:ext cx="1554480" cy="274320"/>
          </a:xfrm>
          <a:prstGeom prst="rect">
            <a:avLst/>
          </a:prstGeom>
          <a:noFill/>
          <a:ln/>
        </p:spPr>
        <p:txBody>
          <a:bodyPr wrap="square" lIns="0" tIns="0" rIns="0" bIns="0" rtlCol="0" anchor="t"/>
          <a:lstStyle/>
          <a:p>
            <a:pPr indent="0" marL="0">
              <a:buNone/>
            </a:pPr>
            <a:r>
              <a:rPr lang="en-US" sz="1250" b="1" spc="100" kern="0" dirty="0">
                <a:solidFill>
                  <a:srgbClr val="0F3D3E"/>
                </a:solidFill>
                <a:latin typeface="Calibri" pitchFamily="34" charset="0"/>
                <a:ea typeface="Calibri" pitchFamily="34" charset="-122"/>
                <a:cs typeface="Calibri" pitchFamily="34" charset="-120"/>
              </a:rPr>
              <a:t>3  TRACK</a:t>
            </a:r>
            <a:endParaRPr lang="en-US" sz="1250" dirty="0"/>
          </a:p>
        </p:txBody>
      </p:sp>
      <p:sp>
        <p:nvSpPr>
          <p:cNvPr id="20" name="Text 15"/>
          <p:cNvSpPr txBox="1"/>
          <p:nvPr/>
        </p:nvSpPr>
        <p:spPr>
          <a:xfrm>
            <a:off x="4846320" y="2514600"/>
            <a:ext cx="1572768" cy="118872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Status, next action, and a pre-written ombudsman complaint after 30 days of silence.</a:t>
            </a:r>
            <a:endParaRPr lang="en-US" sz="1050" dirty="0"/>
          </a:p>
        </p:txBody>
      </p:sp>
      <p:sp>
        <p:nvSpPr>
          <p:cNvPr id="21" name="Shape 16"/>
          <p:cNvSpPr/>
          <p:nvPr/>
        </p:nvSpPr>
        <p:spPr>
          <a:xfrm>
            <a:off x="6583680" y="2514600"/>
            <a:ext cx="146304" cy="228600"/>
          </a:xfrm>
          <a:prstGeom prst="chevron">
            <a:avLst/>
          </a:prstGeom>
          <a:solidFill>
            <a:srgbClr val="E3A33B"/>
          </a:solidFill>
          <a:ln w="12700">
            <a:solidFill>
              <a:srgbClr val="E3A33B"/>
            </a:solidFill>
            <a:prstDash val="solid"/>
          </a:ln>
        </p:spPr>
      </p:sp>
      <p:sp>
        <p:nvSpPr>
          <p:cNvPr id="22" name="Shape 17"/>
          <p:cNvSpPr/>
          <p:nvPr/>
        </p:nvSpPr>
        <p:spPr>
          <a:xfrm>
            <a:off x="6766560" y="1417320"/>
            <a:ext cx="1874520" cy="2377440"/>
          </a:xfrm>
          <a:prstGeom prst="roundRect">
            <a:avLst>
              <a:gd name="adj" fmla="val 3902"/>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6949440" y="1600200"/>
            <a:ext cx="502920" cy="502920"/>
          </a:xfrm>
          <a:prstGeom prst="ellipse">
            <a:avLst/>
          </a:prstGeom>
          <a:solidFill>
            <a:srgbClr val="E3A33B"/>
          </a:solidFill>
          <a:ln w="12700">
            <a:solidFill>
              <a:srgbClr val="E3A33B"/>
            </a:solidFill>
            <a:prstDash val="solid"/>
          </a:ln>
        </p:spPr>
      </p:sp>
      <p:pic>
        <p:nvPicPr>
          <p:cNvPr id="24" name="Image 3" descr="preencoded.png">    </p:cNvPr>
          <p:cNvPicPr>
            <a:picLocks noChangeAspect="1"/>
          </p:cNvPicPr>
          <p:nvPr/>
        </p:nvPicPr>
        <p:blipFill>
          <a:blip r:embed="rId4"/>
          <a:stretch>
            <a:fillRect/>
          </a:stretch>
        </p:blipFill>
        <p:spPr>
          <a:xfrm>
            <a:off x="7080199" y="1730959"/>
            <a:ext cx="241402" cy="241402"/>
          </a:xfrm>
          <a:prstGeom prst="rect">
            <a:avLst/>
          </a:prstGeom>
        </p:spPr>
      </p:pic>
      <p:sp>
        <p:nvSpPr>
          <p:cNvPr id="25" name="Text 19"/>
          <p:cNvSpPr txBox="1"/>
          <p:nvPr/>
        </p:nvSpPr>
        <p:spPr>
          <a:xfrm>
            <a:off x="6949440" y="2212848"/>
            <a:ext cx="1554480" cy="274320"/>
          </a:xfrm>
          <a:prstGeom prst="rect">
            <a:avLst/>
          </a:prstGeom>
          <a:noFill/>
          <a:ln/>
        </p:spPr>
        <p:txBody>
          <a:bodyPr wrap="square" lIns="0" tIns="0" rIns="0" bIns="0" rtlCol="0" anchor="t"/>
          <a:lstStyle/>
          <a:p>
            <a:pPr indent="0" marL="0">
              <a:buNone/>
            </a:pPr>
            <a:r>
              <a:rPr lang="en-US" sz="1250" b="1" spc="100" kern="0" dirty="0">
                <a:solidFill>
                  <a:srgbClr val="0F3D3E"/>
                </a:solidFill>
                <a:latin typeface="Calibri" pitchFamily="34" charset="0"/>
                <a:ea typeface="Calibri" pitchFamily="34" charset="-122"/>
                <a:cs typeface="Calibri" pitchFamily="34" charset="-120"/>
              </a:rPr>
              <a:t>4  PREVENT</a:t>
            </a:r>
            <a:endParaRPr lang="en-US" sz="1250" dirty="0"/>
          </a:p>
        </p:txBody>
      </p:sp>
      <p:sp>
        <p:nvSpPr>
          <p:cNvPr id="26" name="Text 20"/>
          <p:cNvSpPr txBox="1"/>
          <p:nvPr/>
        </p:nvSpPr>
        <p:spPr>
          <a:xfrm>
            <a:off x="6949440" y="2514600"/>
            <a:ext cx="1572768" cy="118872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The Parivaar Vault records every account and checks that each has a nominee.</a:t>
            </a:r>
            <a:endParaRPr lang="en-US" sz="1050" dirty="0"/>
          </a:p>
        </p:txBody>
      </p:sp>
      <p:sp>
        <p:nvSpPr>
          <p:cNvPr id="27" name="Shape 21"/>
          <p:cNvSpPr/>
          <p:nvPr/>
        </p:nvSpPr>
        <p:spPr>
          <a:xfrm>
            <a:off x="457200" y="4023360"/>
            <a:ext cx="2926080" cy="411480"/>
          </a:xfrm>
          <a:prstGeom prst="roundRect">
            <a:avLst>
              <a:gd name="adj" fmla="val 48889"/>
            </a:avLst>
          </a:prstGeom>
          <a:solidFill>
            <a:srgbClr val="0F3D3E"/>
          </a:solidFill>
          <a:ln w="12700">
            <a:solidFill>
              <a:srgbClr val="0F3D3E"/>
            </a:solidFill>
            <a:prstDash val="solid"/>
          </a:ln>
        </p:spPr>
      </p:sp>
      <p:pic>
        <p:nvPicPr>
          <p:cNvPr id="28" name="Image 4" descr="preencoded.png">    </p:cNvPr>
          <p:cNvPicPr>
            <a:picLocks noChangeAspect="1"/>
          </p:cNvPicPr>
          <p:nvPr/>
        </p:nvPicPr>
        <p:blipFill>
          <a:blip r:embed="rId5"/>
          <a:stretch>
            <a:fillRect/>
          </a:stretch>
        </p:blipFill>
        <p:spPr>
          <a:xfrm>
            <a:off x="612648" y="4123944"/>
            <a:ext cx="210312" cy="210312"/>
          </a:xfrm>
          <a:prstGeom prst="rect">
            <a:avLst/>
          </a:prstGeom>
        </p:spPr>
      </p:pic>
      <p:sp>
        <p:nvSpPr>
          <p:cNvPr id="29" name="Text 22"/>
          <p:cNvSpPr txBox="1"/>
          <p:nvPr/>
        </p:nvSpPr>
        <p:spPr>
          <a:xfrm>
            <a:off x="914400" y="4023360"/>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English and Hindi, by voice</a:t>
            </a:r>
            <a:endParaRPr lang="en-US" sz="1100" dirty="0"/>
          </a:p>
        </p:txBody>
      </p:sp>
      <p:sp>
        <p:nvSpPr>
          <p:cNvPr id="30" name="Shape 23"/>
          <p:cNvSpPr/>
          <p:nvPr/>
        </p:nvSpPr>
        <p:spPr>
          <a:xfrm>
            <a:off x="3520440" y="4023360"/>
            <a:ext cx="3291840" cy="411480"/>
          </a:xfrm>
          <a:prstGeom prst="roundRect">
            <a:avLst>
              <a:gd name="adj" fmla="val 48889"/>
            </a:avLst>
          </a:prstGeom>
          <a:solidFill>
            <a:srgbClr val="0F3D3E"/>
          </a:solidFill>
          <a:ln w="12700">
            <a:solidFill>
              <a:srgbClr val="0F3D3E"/>
            </a:solidFill>
            <a:prstDash val="solid"/>
          </a:ln>
        </p:spPr>
      </p:sp>
      <p:pic>
        <p:nvPicPr>
          <p:cNvPr id="31" name="Image 5" descr="preencoded.png">    </p:cNvPr>
          <p:cNvPicPr>
            <a:picLocks noChangeAspect="1"/>
          </p:cNvPicPr>
          <p:nvPr/>
        </p:nvPicPr>
        <p:blipFill>
          <a:blip r:embed="rId6"/>
          <a:stretch>
            <a:fillRect/>
          </a:stretch>
        </p:blipFill>
        <p:spPr>
          <a:xfrm>
            <a:off x="3675888" y="4123944"/>
            <a:ext cx="210312" cy="210312"/>
          </a:xfrm>
          <a:prstGeom prst="rect">
            <a:avLst/>
          </a:prstGeom>
        </p:spPr>
      </p:pic>
      <p:sp>
        <p:nvSpPr>
          <p:cNvPr id="32" name="Text 24"/>
          <p:cNvSpPr txBox="1"/>
          <p:nvPr/>
        </p:nvSpPr>
        <p:spPr>
          <a:xfrm>
            <a:off x="3977640" y="4023360"/>
            <a:ext cx="274320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Light and dark, phone and laptop</a:t>
            </a:r>
            <a:endParaRPr lang="en-US" sz="1100" dirty="0"/>
          </a:p>
        </p:txBody>
      </p:sp>
      <p:sp>
        <p:nvSpPr>
          <p:cNvPr id="33" name="Shape 25"/>
          <p:cNvSpPr/>
          <p:nvPr/>
        </p:nvSpPr>
        <p:spPr>
          <a:xfrm>
            <a:off x="6949440" y="4023360"/>
            <a:ext cx="2194560" cy="411480"/>
          </a:xfrm>
          <a:prstGeom prst="roundRect">
            <a:avLst>
              <a:gd name="adj" fmla="val 48889"/>
            </a:avLst>
          </a:prstGeom>
          <a:solidFill>
            <a:srgbClr val="0F3D3E"/>
          </a:solidFill>
          <a:ln w="12700">
            <a:solidFill>
              <a:srgbClr val="0F3D3E"/>
            </a:solidFill>
            <a:prstDash val="solid"/>
          </a:ln>
        </p:spPr>
      </p:sp>
      <p:pic>
        <p:nvPicPr>
          <p:cNvPr id="34" name="Image 6" descr="preencoded.png">    </p:cNvPr>
          <p:cNvPicPr>
            <a:picLocks noChangeAspect="1"/>
          </p:cNvPicPr>
          <p:nvPr/>
        </p:nvPicPr>
        <p:blipFill>
          <a:blip r:embed="rId7"/>
          <a:stretch>
            <a:fillRect/>
          </a:stretch>
        </p:blipFill>
        <p:spPr>
          <a:xfrm>
            <a:off x="7104888" y="4123944"/>
            <a:ext cx="210312" cy="210312"/>
          </a:xfrm>
          <a:prstGeom prst="rect">
            <a:avLst/>
          </a:prstGeom>
        </p:spPr>
      </p:pic>
      <p:sp>
        <p:nvSpPr>
          <p:cNvPr id="35" name="Text 26"/>
          <p:cNvSpPr txBox="1"/>
          <p:nvPr/>
        </p:nvSpPr>
        <p:spPr>
          <a:xfrm>
            <a:off x="7406640" y="4023360"/>
            <a:ext cx="16459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 sign up to try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03  ·  INNOVATION</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Four things that exist nowhere else</a:t>
            </a:r>
            <a:endParaRPr lang="en-US" sz="2600" dirty="0"/>
          </a:p>
        </p:txBody>
      </p:sp>
      <p:sp>
        <p:nvSpPr>
          <p:cNvPr id="4" name="Shape 2"/>
          <p:cNvSpPr/>
          <p:nvPr/>
        </p:nvSpPr>
        <p:spPr>
          <a:xfrm>
            <a:off x="457200" y="1371600"/>
            <a:ext cx="502920" cy="502920"/>
          </a:xfrm>
          <a:prstGeom prst="ellipse">
            <a:avLst/>
          </a:prstGeom>
          <a:solidFill>
            <a:srgbClr val="0F3D3E"/>
          </a:solidFill>
          <a:ln w="12700">
            <a:solidFill>
              <a:srgbClr val="0F3D3E"/>
            </a:solidFill>
            <a:prstDash val="solid"/>
          </a:ln>
        </p:spPr>
      </p:sp>
      <p:pic>
        <p:nvPicPr>
          <p:cNvPr id="5" name="Image 0" descr="preencoded.png">    </p:cNvPr>
          <p:cNvPicPr>
            <a:picLocks noChangeAspect="1"/>
          </p:cNvPicPr>
          <p:nvPr/>
        </p:nvPicPr>
        <p:blipFill>
          <a:blip r:embed="rId1"/>
          <a:stretch>
            <a:fillRect/>
          </a:stretch>
        </p:blipFill>
        <p:spPr>
          <a:xfrm>
            <a:off x="587959" y="1502359"/>
            <a:ext cx="241402" cy="241402"/>
          </a:xfrm>
          <a:prstGeom prst="rect">
            <a:avLst/>
          </a:prstGeom>
        </p:spPr>
      </p:pic>
      <p:sp>
        <p:nvSpPr>
          <p:cNvPr id="6" name="Text 3"/>
          <p:cNvSpPr txBox="1"/>
          <p:nvPr/>
        </p:nvSpPr>
        <p:spPr>
          <a:xfrm>
            <a:off x="1143000" y="1353312"/>
            <a:ext cx="7498080" cy="274320"/>
          </a:xfrm>
          <a:prstGeom prst="rect">
            <a:avLst/>
          </a:prstGeom>
          <a:noFill/>
          <a:ln/>
        </p:spPr>
        <p:txBody>
          <a:bodyPr wrap="square" lIns="0" tIns="0" rIns="0" bIns="0" rtlCol="0" anchor="t"/>
          <a:lstStyle/>
          <a:p>
            <a:pPr indent="0" marL="0">
              <a:buNone/>
            </a:pPr>
            <a:r>
              <a:rPr lang="en-US" sz="1400" b="1" dirty="0">
                <a:solidFill>
                  <a:srgbClr val="0F3D3E"/>
                </a:solidFill>
                <a:latin typeface="Calibri" pitchFamily="34" charset="0"/>
                <a:ea typeface="Calibri" pitchFamily="34" charset="-122"/>
                <a:cs typeface="Calibri" pitchFamily="34" charset="-120"/>
              </a:rPr>
              <a:t>The tax statement becomes an asset map</a:t>
            </a:r>
            <a:endParaRPr lang="en-US" sz="1400" dirty="0"/>
          </a:p>
        </p:txBody>
      </p:sp>
      <p:sp>
        <p:nvSpPr>
          <p:cNvPr id="7" name="Text 4"/>
          <p:cNvSpPr txBox="1"/>
          <p:nvPr/>
        </p:nvSpPr>
        <p:spPr>
          <a:xfrm>
            <a:off x="1143000" y="1627632"/>
            <a:ext cx="7498080" cy="54864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A legal heir can get the account holder's Annual Information Statement. It lists interest from every bank and dividends from every company. Virasat turns that one PDF into a list of places to claim from, even with no papers at all.</a:t>
            </a:r>
            <a:endParaRPr lang="en-US" sz="1050" dirty="0"/>
          </a:p>
        </p:txBody>
      </p:sp>
      <p:sp>
        <p:nvSpPr>
          <p:cNvPr id="8" name="Shape 5"/>
          <p:cNvSpPr/>
          <p:nvPr/>
        </p:nvSpPr>
        <p:spPr>
          <a:xfrm>
            <a:off x="457200" y="2221992"/>
            <a:ext cx="502920" cy="502920"/>
          </a:xfrm>
          <a:prstGeom prst="ellipse">
            <a:avLst/>
          </a:prstGeom>
          <a:solidFill>
            <a:srgbClr val="E3A33B"/>
          </a:solidFill>
          <a:ln w="12700">
            <a:solidFill>
              <a:srgbClr val="E3A33B"/>
            </a:solidFill>
            <a:prstDash val="solid"/>
          </a:ln>
        </p:spPr>
      </p:sp>
      <p:pic>
        <p:nvPicPr>
          <p:cNvPr id="9" name="Image 1" descr="preencoded.png">    </p:cNvPr>
          <p:cNvPicPr>
            <a:picLocks noChangeAspect="1"/>
          </p:cNvPicPr>
          <p:nvPr/>
        </p:nvPicPr>
        <p:blipFill>
          <a:blip r:embed="rId2"/>
          <a:stretch>
            <a:fillRect/>
          </a:stretch>
        </p:blipFill>
        <p:spPr>
          <a:xfrm>
            <a:off x="587959" y="2352751"/>
            <a:ext cx="241402" cy="241402"/>
          </a:xfrm>
          <a:prstGeom prst="rect">
            <a:avLst/>
          </a:prstGeom>
        </p:spPr>
      </p:pic>
      <p:sp>
        <p:nvSpPr>
          <p:cNvPr id="10" name="Text 6"/>
          <p:cNvSpPr txBox="1"/>
          <p:nvPr/>
        </p:nvSpPr>
        <p:spPr>
          <a:xfrm>
            <a:off x="1143000" y="2203704"/>
            <a:ext cx="7498080" cy="274320"/>
          </a:xfrm>
          <a:prstGeom prst="rect">
            <a:avLst/>
          </a:prstGeom>
          <a:noFill/>
          <a:ln/>
        </p:spPr>
        <p:txBody>
          <a:bodyPr wrap="square" lIns="0" tIns="0" rIns="0" bIns="0" rtlCol="0" anchor="t"/>
          <a:lstStyle/>
          <a:p>
            <a:pPr indent="0" marL="0">
              <a:buNone/>
            </a:pPr>
            <a:r>
              <a:rPr lang="en-US" sz="1400" b="1" dirty="0">
                <a:solidFill>
                  <a:srgbClr val="0F3D3E"/>
                </a:solidFill>
                <a:latin typeface="Calibri" pitchFamily="34" charset="0"/>
                <a:ea typeface="Calibri" pitchFamily="34" charset="-122"/>
                <a:cs typeface="Calibri" pitchFamily="34" charset="-120"/>
              </a:rPr>
              <a:t>The AI Review</a:t>
            </a:r>
            <a:endParaRPr lang="en-US" sz="1400" dirty="0"/>
          </a:p>
        </p:txBody>
      </p:sp>
      <p:sp>
        <p:nvSpPr>
          <p:cNvPr id="11" name="Text 7"/>
          <p:cNvSpPr txBox="1"/>
          <p:nvPr/>
        </p:nvSpPr>
        <p:spPr>
          <a:xfrm>
            <a:off x="1143000" y="2478024"/>
            <a:ext cx="7498080" cy="54864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One AI argues for the route, a second hunts for what could go wrong, a third gives the verdict with reasons and risks. The referee can only make advice more careful, never overrule the rules.</a:t>
            </a:r>
            <a:endParaRPr lang="en-US" sz="1050" dirty="0"/>
          </a:p>
        </p:txBody>
      </p:sp>
      <p:sp>
        <p:nvSpPr>
          <p:cNvPr id="12" name="Shape 8"/>
          <p:cNvSpPr/>
          <p:nvPr/>
        </p:nvSpPr>
        <p:spPr>
          <a:xfrm>
            <a:off x="457200" y="3072384"/>
            <a:ext cx="502920" cy="502920"/>
          </a:xfrm>
          <a:prstGeom prst="ellipse">
            <a:avLst/>
          </a:prstGeom>
          <a:solidFill>
            <a:srgbClr val="0F3D3E"/>
          </a:solidFill>
          <a:ln w="12700">
            <a:solidFill>
              <a:srgbClr val="0F3D3E"/>
            </a:solidFill>
            <a:prstDash val="solid"/>
          </a:ln>
        </p:spPr>
      </p:sp>
      <p:pic>
        <p:nvPicPr>
          <p:cNvPr id="13" name="Image 2" descr="preencoded.png">    </p:cNvPr>
          <p:cNvPicPr>
            <a:picLocks noChangeAspect="1"/>
          </p:cNvPicPr>
          <p:nvPr/>
        </p:nvPicPr>
        <p:blipFill>
          <a:blip r:embed="rId3"/>
          <a:stretch>
            <a:fillRect/>
          </a:stretch>
        </p:blipFill>
        <p:spPr>
          <a:xfrm>
            <a:off x="587959" y="3203143"/>
            <a:ext cx="241402" cy="241402"/>
          </a:xfrm>
          <a:prstGeom prst="rect">
            <a:avLst/>
          </a:prstGeom>
        </p:spPr>
      </p:pic>
      <p:sp>
        <p:nvSpPr>
          <p:cNvPr id="14" name="Text 9"/>
          <p:cNvSpPr txBox="1"/>
          <p:nvPr/>
        </p:nvSpPr>
        <p:spPr>
          <a:xfrm>
            <a:off x="1143000" y="3054096"/>
            <a:ext cx="7498080" cy="274320"/>
          </a:xfrm>
          <a:prstGeom prst="rect">
            <a:avLst/>
          </a:prstGeom>
          <a:noFill/>
          <a:ln/>
        </p:spPr>
        <p:txBody>
          <a:bodyPr wrap="square" lIns="0" tIns="0" rIns="0" bIns="0" rtlCol="0" anchor="t"/>
          <a:lstStyle/>
          <a:p>
            <a:pPr indent="0" marL="0">
              <a:buNone/>
            </a:pPr>
            <a:r>
              <a:rPr lang="en-US" sz="1400" b="1" dirty="0">
                <a:solidFill>
                  <a:srgbClr val="0F3D3E"/>
                </a:solidFill>
                <a:latin typeface="Calibri" pitchFamily="34" charset="0"/>
                <a:ea typeface="Calibri" pitchFamily="34" charset="-122"/>
                <a:cs typeface="Calibri" pitchFamily="34" charset="-120"/>
              </a:rPr>
              <a:t>Safety by separation</a:t>
            </a:r>
            <a:endParaRPr lang="en-US" sz="1400" dirty="0"/>
          </a:p>
        </p:txBody>
      </p:sp>
      <p:sp>
        <p:nvSpPr>
          <p:cNvPr id="15" name="Text 10"/>
          <p:cNvSpPr txBox="1"/>
          <p:nvPr/>
        </p:nvSpPr>
        <p:spPr>
          <a:xfrm>
            <a:off x="1143000" y="3328416"/>
            <a:ext cx="7498080" cy="54864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The AI reads, explains and translates. Every legal decision comes from a deterministic, versioned, unit-tested rule engine, so an institution can audit it.</a:t>
            </a:r>
            <a:endParaRPr lang="en-US" sz="1050" dirty="0"/>
          </a:p>
        </p:txBody>
      </p:sp>
      <p:sp>
        <p:nvSpPr>
          <p:cNvPr id="16" name="Shape 11"/>
          <p:cNvSpPr/>
          <p:nvPr/>
        </p:nvSpPr>
        <p:spPr>
          <a:xfrm>
            <a:off x="457200" y="3922776"/>
            <a:ext cx="502920" cy="502920"/>
          </a:xfrm>
          <a:prstGeom prst="ellipse">
            <a:avLst/>
          </a:prstGeom>
          <a:solidFill>
            <a:srgbClr val="0F3D3E"/>
          </a:solidFill>
          <a:ln w="12700">
            <a:solidFill>
              <a:srgbClr val="0F3D3E"/>
            </a:solidFill>
            <a:prstDash val="solid"/>
          </a:ln>
        </p:spPr>
      </p:sp>
      <p:pic>
        <p:nvPicPr>
          <p:cNvPr id="17" name="Image 3" descr="preencoded.png">    </p:cNvPr>
          <p:cNvPicPr>
            <a:picLocks noChangeAspect="1"/>
          </p:cNvPicPr>
          <p:nvPr/>
        </p:nvPicPr>
        <p:blipFill>
          <a:blip r:embed="rId4"/>
          <a:stretch>
            <a:fillRect/>
          </a:stretch>
        </p:blipFill>
        <p:spPr>
          <a:xfrm>
            <a:off x="587959" y="4053535"/>
            <a:ext cx="241402" cy="241402"/>
          </a:xfrm>
          <a:prstGeom prst="rect">
            <a:avLst/>
          </a:prstGeom>
        </p:spPr>
      </p:pic>
      <p:sp>
        <p:nvSpPr>
          <p:cNvPr id="18" name="Text 12"/>
          <p:cNvSpPr txBox="1"/>
          <p:nvPr/>
        </p:nvSpPr>
        <p:spPr>
          <a:xfrm>
            <a:off x="1143000" y="3904488"/>
            <a:ext cx="7498080" cy="274320"/>
          </a:xfrm>
          <a:prstGeom prst="rect">
            <a:avLst/>
          </a:prstGeom>
          <a:noFill/>
          <a:ln/>
        </p:spPr>
        <p:txBody>
          <a:bodyPr wrap="square" lIns="0" tIns="0" rIns="0" bIns="0" rtlCol="0" anchor="t"/>
          <a:lstStyle/>
          <a:p>
            <a:pPr indent="0" marL="0">
              <a:buNone/>
            </a:pPr>
            <a:r>
              <a:rPr lang="en-US" sz="1400" b="1" dirty="0">
                <a:solidFill>
                  <a:srgbClr val="0F3D3E"/>
                </a:solidFill>
                <a:latin typeface="Calibri" pitchFamily="34" charset="0"/>
                <a:ea typeface="Calibri" pitchFamily="34" charset="-122"/>
                <a:cs typeface="Calibri" pitchFamily="34" charset="-120"/>
              </a:rPr>
              <a:t>Bring your own data, key and rules</a:t>
            </a:r>
            <a:endParaRPr lang="en-US" sz="1400" dirty="0"/>
          </a:p>
        </p:txBody>
      </p:sp>
      <p:sp>
        <p:nvSpPr>
          <p:cNvPr id="19" name="Text 13"/>
          <p:cNvSpPr txBox="1"/>
          <p:nvPr/>
        </p:nvSpPr>
        <p:spPr>
          <a:xfrm>
            <a:off x="1143000" y="4178808"/>
            <a:ext cx="7498080" cy="54864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A bank sends its own claim rules as JSON. Virasat applies them and records the rule version on every claim.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6F0EE"/>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03  ·  INNOVATION: THE AI REVIEW</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400" b="1" dirty="0">
                <a:solidFill>
                  <a:srgbClr val="1B2424"/>
                </a:solidFill>
                <a:latin typeface="Cambria" pitchFamily="34" charset="0"/>
                <a:ea typeface="Cambria" pitchFamily="34" charset="-122"/>
                <a:cs typeface="Cambria" pitchFamily="34" charset="-120"/>
              </a:rPr>
              <a:t>Virasat challenges its own guidance before a family acts</a:t>
            </a:r>
            <a:endParaRPr lang="en-US" sz="2400" dirty="0"/>
          </a:p>
        </p:txBody>
      </p:sp>
      <p:sp>
        <p:nvSpPr>
          <p:cNvPr id="4" name="Shape 2"/>
          <p:cNvSpPr/>
          <p:nvPr/>
        </p:nvSpPr>
        <p:spPr>
          <a:xfrm>
            <a:off x="457200" y="1371600"/>
            <a:ext cx="4114800" cy="1371600"/>
          </a:xfrm>
          <a:prstGeom prst="roundRect">
            <a:avLst>
              <a:gd name="adj" fmla="val 5333"/>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40080" y="1481328"/>
            <a:ext cx="3657600" cy="228600"/>
          </a:xfrm>
          <a:prstGeom prst="rect">
            <a:avLst/>
          </a:prstGeom>
          <a:noFill/>
          <a:ln/>
        </p:spPr>
        <p:txBody>
          <a:bodyPr wrap="square" lIns="0" tIns="0" rIns="0" bIns="0" rtlCol="0" anchor="t"/>
          <a:lstStyle/>
          <a:p>
            <a:pPr indent="0" marL="0">
              <a:buNone/>
            </a:pPr>
            <a:r>
              <a:rPr lang="en-US" sz="1100" b="1" dirty="0">
                <a:solidFill>
                  <a:srgbClr val="1E7F4F"/>
                </a:solidFill>
                <a:latin typeface="Calibri" pitchFamily="34" charset="0"/>
                <a:ea typeface="Calibri" pitchFamily="34" charset="-122"/>
                <a:cs typeface="Calibri" pitchFamily="34" charset="-120"/>
              </a:rPr>
              <a:t>Supporter</a:t>
            </a:r>
            <a:endParaRPr lang="en-US" sz="1100" dirty="0"/>
          </a:p>
        </p:txBody>
      </p:sp>
      <p:sp>
        <p:nvSpPr>
          <p:cNvPr id="6" name="Text 4"/>
          <p:cNvSpPr txBox="1"/>
          <p:nvPr/>
        </p:nvSpPr>
        <p:spPr>
          <a:xfrm>
            <a:off x="640080" y="1737360"/>
            <a:ext cx="3749040" cy="91440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The nominee route is correct: the passbook names a nominee and the amount is below the bank's threshold.</a:t>
            </a:r>
            <a:endParaRPr lang="en-US" sz="1050" dirty="0"/>
          </a:p>
        </p:txBody>
      </p:sp>
      <p:sp>
        <p:nvSpPr>
          <p:cNvPr id="7" name="Shape 5"/>
          <p:cNvSpPr/>
          <p:nvPr/>
        </p:nvSpPr>
        <p:spPr>
          <a:xfrm>
            <a:off x="4663440" y="1371600"/>
            <a:ext cx="4023360" cy="1371600"/>
          </a:xfrm>
          <a:prstGeom prst="roundRect">
            <a:avLst>
              <a:gd name="adj" fmla="val 5333"/>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846320" y="1481328"/>
            <a:ext cx="3657600" cy="22860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Challenger</a:t>
            </a:r>
            <a:endParaRPr lang="en-US" sz="1100" dirty="0"/>
          </a:p>
        </p:txBody>
      </p:sp>
      <p:sp>
        <p:nvSpPr>
          <p:cNvPr id="9" name="Text 7"/>
          <p:cNvSpPr txBox="1"/>
          <p:nvPr/>
        </p:nvSpPr>
        <p:spPr>
          <a:xfrm>
            <a:off x="4846320" y="1737360"/>
            <a:ext cx="3657600" cy="914400"/>
          </a:xfrm>
          <a:prstGeom prst="rect">
            <a:avLst/>
          </a:prstGeom>
          <a:noFill/>
          <a:ln/>
        </p:spPr>
        <p:txBody>
          <a:bodyPr wrap="square" lIns="0" tIns="0" rIns="0" bIns="0" rtlCol="0" anchor="t"/>
          <a:lstStyle/>
          <a:p>
            <a:pPr indent="0" marL="0">
              <a:buNone/>
            </a:pPr>
            <a:r>
              <a:rPr lang="en-US" sz="1050" dirty="0">
                <a:solidFill>
                  <a:srgbClr val="1B2424"/>
                </a:solidFill>
                <a:latin typeface="Calibri" pitchFamily="34" charset="0"/>
                <a:ea typeface="Calibri" pitchFamily="34" charset="-122"/>
                <a:cs typeface="Calibri" pitchFamily="34" charset="-120"/>
              </a:rPr>
              <a:t>The passbook says 'Sunita R Kulkarni'. Her ID may say 'Sunita Ramesh Kulkarni'. Banks reject claims on a spelling mismatch.</a:t>
            </a:r>
            <a:endParaRPr lang="en-US" sz="1050" dirty="0"/>
          </a:p>
        </p:txBody>
      </p:sp>
      <p:sp>
        <p:nvSpPr>
          <p:cNvPr id="10" name="Shape 8"/>
          <p:cNvSpPr/>
          <p:nvPr/>
        </p:nvSpPr>
        <p:spPr>
          <a:xfrm>
            <a:off x="457200" y="2880360"/>
            <a:ext cx="8229600" cy="1234440"/>
          </a:xfrm>
          <a:prstGeom prst="roundRect">
            <a:avLst>
              <a:gd name="adj" fmla="val 5926"/>
            </a:avLst>
          </a:prstGeom>
          <a:solidFill>
            <a:srgbClr val="0F3D3E"/>
          </a:solidFill>
          <a:ln w="9525">
            <a:solidFill>
              <a:srgbClr val="0F3D3E"/>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685800" y="2999232"/>
            <a:ext cx="2743200" cy="228600"/>
          </a:xfrm>
          <a:prstGeom prst="rect">
            <a:avLst/>
          </a:prstGeom>
          <a:noFill/>
          <a:ln/>
        </p:spPr>
        <p:txBody>
          <a:bodyPr wrap="square" lIns="0" tIns="0" rIns="0" bIns="0" rtlCol="0" anchor="t"/>
          <a:lstStyle/>
          <a:p>
            <a:pPr indent="0" marL="0">
              <a:buNone/>
            </a:pPr>
            <a:r>
              <a:rPr lang="en-US" sz="1100" b="1" dirty="0">
                <a:solidFill>
                  <a:srgbClr val="E3A33B"/>
                </a:solidFill>
                <a:latin typeface="Calibri" pitchFamily="34" charset="0"/>
                <a:ea typeface="Calibri" pitchFamily="34" charset="-122"/>
                <a:cs typeface="Calibri" pitchFamily="34" charset="-120"/>
              </a:rPr>
              <a:t>Referee</a:t>
            </a:r>
            <a:endParaRPr lang="en-US" sz="1100" dirty="0"/>
          </a:p>
        </p:txBody>
      </p:sp>
      <p:sp>
        <p:nvSpPr>
          <p:cNvPr id="12" name="Text 10"/>
          <p:cNvSpPr txBox="1"/>
          <p:nvPr/>
        </p:nvSpPr>
        <p:spPr>
          <a:xfrm>
            <a:off x="685800" y="3255264"/>
            <a:ext cx="777240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Nominee route. High confidence. Next step: carry an ID that matches the nominee name exactly, or an affidavit for the name variation.</a:t>
            </a:r>
            <a:endParaRPr lang="en-US" sz="1300" dirty="0"/>
          </a:p>
        </p:txBody>
      </p:sp>
      <p:sp>
        <p:nvSpPr>
          <p:cNvPr id="13" name="Text 11"/>
          <p:cNvSpPr txBox="1"/>
          <p:nvPr/>
        </p:nvSpPr>
        <p:spPr>
          <a:xfrm>
            <a:off x="457200" y="4828032"/>
            <a:ext cx="8229600" cy="228600"/>
          </a:xfrm>
          <a:prstGeom prst="rect">
            <a:avLst/>
          </a:prstGeom>
          <a:noFill/>
          <a:ln/>
        </p:spPr>
        <p:txBody>
          <a:bodyPr wrap="square" lIns="0" tIns="0" rIns="0" bIns="0" rtlCol="0" anchor="ctr"/>
          <a:lstStyle/>
          <a:p>
            <a:pPr indent="0" marL="0">
              <a:buNone/>
            </a:pPr>
            <a:r>
              <a:rPr lang="en-US" sz="800" dirty="0">
                <a:solidFill>
                  <a:srgbClr val="5B6B6A"/>
                </a:solidFill>
                <a:latin typeface="Calibri" pitchFamily="34" charset="0"/>
                <a:ea typeface="Calibri" pitchFamily="34" charset="-122"/>
                <a:cs typeface="Calibri" pitchFamily="34" charset="-120"/>
              </a:rPr>
              <a:t>We measured it rather than assuming it. On 3 planted problems the Challenger caught 3 of 3, and so did a single reviewer with no debate: on cases this clear the debate added nothing to accuracy, and we publish that. The case for it is that the family can read the disagreement, and that the Referee is prevented in code from lowering a caution. Reproduce with npm run eval.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04  ·  TECHNICAL IMPLEMENTATION</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What is actually built</a:t>
            </a:r>
            <a:endParaRPr lang="en-US" sz="2600" dirty="0"/>
          </a:p>
        </p:txBody>
      </p:sp>
      <p:sp>
        <p:nvSpPr>
          <p:cNvPr id="4" name="Shape 2"/>
          <p:cNvSpPr/>
          <p:nvPr/>
        </p:nvSpPr>
        <p:spPr>
          <a:xfrm>
            <a:off x="457200" y="1371600"/>
            <a:ext cx="2743200" cy="2240280"/>
          </a:xfrm>
          <a:prstGeom prst="roundRect">
            <a:avLst>
              <a:gd name="adj" fmla="val 3265"/>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40080" y="1481328"/>
            <a:ext cx="2377440" cy="274320"/>
          </a:xfrm>
          <a:prstGeom prst="rect">
            <a:avLst/>
          </a:prstGeom>
          <a:noFill/>
          <a:ln/>
        </p:spPr>
        <p:txBody>
          <a:bodyPr wrap="square" lIns="0" tIns="0" rIns="0" bIns="0" rtlCol="0" anchor="t"/>
          <a:lstStyle/>
          <a:p>
            <a:pPr indent="0" marL="0">
              <a:buNone/>
            </a:pPr>
            <a:r>
              <a:rPr lang="en-US" sz="1050" b="1" spc="150" kern="0" dirty="0">
                <a:solidFill>
                  <a:srgbClr val="5B6B6A"/>
                </a:solidFill>
                <a:latin typeface="Calibri" pitchFamily="34" charset="0"/>
                <a:ea typeface="Calibri" pitchFamily="34" charset="-122"/>
                <a:cs typeface="Calibri" pitchFamily="34" charset="-120"/>
              </a:rPr>
              <a:t>READS AND WRITES</a:t>
            </a:r>
            <a:endParaRPr lang="en-US" sz="1050" dirty="0"/>
          </a:p>
        </p:txBody>
      </p:sp>
      <p:sp>
        <p:nvSpPr>
          <p:cNvPr id="6" name="Text 4"/>
          <p:cNvSpPr txBox="1"/>
          <p:nvPr/>
        </p:nvSpPr>
        <p:spPr>
          <a:xfrm>
            <a:off x="640080" y="1783080"/>
            <a:ext cx="2377440" cy="17373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Claude Opus 5 with JSON schema outputs</a:t>
            </a:r>
            <a:endParaRPr lang="en-US" sz="1000" dirty="0"/>
          </a:p>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AIS PDF tables parsed in code</a:t>
            </a:r>
            <a:endParaRPr lang="en-US" sz="1000" dirty="0"/>
          </a:p>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Claim packs built with pdf-lib</a:t>
            </a:r>
            <a:endParaRPr lang="en-US" sz="1000" dirty="0"/>
          </a:p>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Browser speech in and out</a:t>
            </a:r>
            <a:endParaRPr lang="en-US" sz="1000" dirty="0"/>
          </a:p>
        </p:txBody>
      </p:sp>
      <p:sp>
        <p:nvSpPr>
          <p:cNvPr id="7" name="Shape 5"/>
          <p:cNvSpPr/>
          <p:nvPr/>
        </p:nvSpPr>
        <p:spPr>
          <a:xfrm>
            <a:off x="3337560" y="1371600"/>
            <a:ext cx="2468880" cy="2240280"/>
          </a:xfrm>
          <a:prstGeom prst="roundRect">
            <a:avLst>
              <a:gd name="adj" fmla="val 3265"/>
            </a:avLst>
          </a:prstGeom>
          <a:solidFill>
            <a:srgbClr val="0F3D3E"/>
          </a:solidFill>
          <a:ln w="9525">
            <a:solidFill>
              <a:srgbClr val="0F3D3E"/>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3520440" y="1481328"/>
            <a:ext cx="2103120" cy="274320"/>
          </a:xfrm>
          <a:prstGeom prst="rect">
            <a:avLst/>
          </a:prstGeom>
          <a:noFill/>
          <a:ln/>
        </p:spPr>
        <p:txBody>
          <a:bodyPr wrap="square" lIns="0" tIns="0" rIns="0" bIns="0" rtlCol="0" anchor="t"/>
          <a:lstStyle/>
          <a:p>
            <a:pPr indent="0" marL="0">
              <a:buNone/>
            </a:pPr>
            <a:r>
              <a:rPr lang="en-US" sz="1050" b="1" spc="150" kern="0" dirty="0">
                <a:solidFill>
                  <a:srgbClr val="E3A33B"/>
                </a:solidFill>
                <a:latin typeface="Calibri" pitchFamily="34" charset="0"/>
                <a:ea typeface="Calibri" pitchFamily="34" charset="-122"/>
                <a:cs typeface="Calibri" pitchFamily="34" charset="-120"/>
              </a:rPr>
              <a:t>DECIDES</a:t>
            </a:r>
            <a:endParaRPr lang="en-US" sz="1050" dirty="0"/>
          </a:p>
        </p:txBody>
      </p:sp>
      <p:sp>
        <p:nvSpPr>
          <p:cNvPr id="9" name="Text 7"/>
          <p:cNvSpPr txBox="1"/>
          <p:nvPr/>
        </p:nvSpPr>
        <p:spPr>
          <a:xfrm>
            <a:off x="3520440" y="1783080"/>
            <a:ext cx="2103120" cy="17373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Rule engine, 5 institutions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Versioned and unit-tested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Bring your own rules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Debate can only raise caution</a:t>
            </a:r>
            <a:endParaRPr lang="en-US" sz="1000" dirty="0"/>
          </a:p>
        </p:txBody>
      </p:sp>
      <p:sp>
        <p:nvSpPr>
          <p:cNvPr id="10" name="Shape 8"/>
          <p:cNvSpPr/>
          <p:nvPr/>
        </p:nvSpPr>
        <p:spPr>
          <a:xfrm>
            <a:off x="5943600" y="1371600"/>
            <a:ext cx="2743200" cy="2240280"/>
          </a:xfrm>
          <a:prstGeom prst="roundRect">
            <a:avLst>
              <a:gd name="adj" fmla="val 3265"/>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6126480" y="1481328"/>
            <a:ext cx="2377440" cy="274320"/>
          </a:xfrm>
          <a:prstGeom prst="rect">
            <a:avLst/>
          </a:prstGeom>
          <a:noFill/>
          <a:ln/>
        </p:spPr>
        <p:txBody>
          <a:bodyPr wrap="square" lIns="0" tIns="0" rIns="0" bIns="0" rtlCol="0" anchor="t"/>
          <a:lstStyle/>
          <a:p>
            <a:pPr indent="0" marL="0">
              <a:buNone/>
            </a:pPr>
            <a:r>
              <a:rPr lang="en-US" sz="1050" b="1" spc="150" kern="0" dirty="0">
                <a:solidFill>
                  <a:srgbClr val="5B6B6A"/>
                </a:solidFill>
                <a:latin typeface="Calibri" pitchFamily="34" charset="0"/>
                <a:ea typeface="Calibri" pitchFamily="34" charset="-122"/>
                <a:cs typeface="Calibri" pitchFamily="34" charset="-120"/>
              </a:rPr>
              <a:t>SERVES</a:t>
            </a:r>
            <a:endParaRPr lang="en-US" sz="1050" dirty="0"/>
          </a:p>
        </p:txBody>
      </p:sp>
      <p:sp>
        <p:nvSpPr>
          <p:cNvPr id="12" name="Text 10"/>
          <p:cNvSpPr txBox="1"/>
          <p:nvPr/>
        </p:nvSpPr>
        <p:spPr>
          <a:xfrm>
            <a:off x="6126480" y="1783080"/>
            <a:ext cx="2377440" cy="17373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Next.js 16, React 19, TypeScript</a:t>
            </a:r>
            <a:endParaRPr lang="en-US" sz="1000" dirty="0"/>
          </a:p>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Public API with keys and limits</a:t>
            </a:r>
            <a:endParaRPr lang="en-US" sz="1000" dirty="0"/>
          </a:p>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RFC 9457 errors, playground</a:t>
            </a:r>
            <a:endParaRPr lang="en-US" sz="1000" dirty="0"/>
          </a:p>
          <a:p>
            <a:pPr marL="342900" indent="-342900">
              <a:spcAft>
                <a:spcPts val="300"/>
              </a:spcAft>
              <a:buSzPct val="100000"/>
              <a:buChar char="•"/>
            </a:pPr>
            <a:r>
              <a:rPr lang="en-US" sz="1000" dirty="0">
                <a:solidFill>
                  <a:srgbClr val="1B2424"/>
                </a:solidFill>
                <a:latin typeface="Calibri" pitchFamily="34" charset="0"/>
                <a:ea typeface="Calibri" pitchFamily="34" charset="-122"/>
                <a:cs typeface="Calibri" pitchFamily="34" charset="-120"/>
              </a:rPr>
              <a:t>Data stays in the browser</a:t>
            </a:r>
            <a:endParaRPr lang="en-US" sz="1000" dirty="0"/>
          </a:p>
        </p:txBody>
      </p:sp>
      <p:sp>
        <p:nvSpPr>
          <p:cNvPr id="13" name="Shape 11"/>
          <p:cNvSpPr/>
          <p:nvPr/>
        </p:nvSpPr>
        <p:spPr>
          <a:xfrm>
            <a:off x="457200" y="3794760"/>
            <a:ext cx="1920240" cy="777240"/>
          </a:xfrm>
          <a:prstGeom prst="roundRect">
            <a:avLst>
              <a:gd name="adj" fmla="val 9412"/>
            </a:avLst>
          </a:prstGeom>
          <a:solidFill>
            <a:srgbClr val="FBF1DF"/>
          </a:solidFill>
          <a:ln w="9525">
            <a:solidFill>
              <a:srgbClr val="FBF1DF"/>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594360" y="3877056"/>
            <a:ext cx="1737360" cy="320040"/>
          </a:xfrm>
          <a:prstGeom prst="rect">
            <a:avLst/>
          </a:prstGeom>
          <a:noFill/>
          <a:ln/>
        </p:spPr>
        <p:txBody>
          <a:bodyPr wrap="square" lIns="0" tIns="0" rIns="0" bIns="0" rtlCol="0" anchor="t"/>
          <a:lstStyle/>
          <a:p>
            <a:pPr indent="0" marL="0">
              <a:buNone/>
            </a:pPr>
            <a:r>
              <a:rPr lang="en-US" sz="1700" b="1" dirty="0">
                <a:solidFill>
                  <a:srgbClr val="0F3D3E"/>
                </a:solidFill>
                <a:latin typeface="Cambria" pitchFamily="34" charset="0"/>
                <a:ea typeface="Cambria" pitchFamily="34" charset="-122"/>
                <a:cs typeface="Cambria" pitchFamily="34" charset="-120"/>
              </a:rPr>
              <a:t>53</a:t>
            </a:r>
            <a:endParaRPr lang="en-US" sz="1700" dirty="0"/>
          </a:p>
        </p:txBody>
      </p:sp>
      <p:sp>
        <p:nvSpPr>
          <p:cNvPr id="15" name="Text 13"/>
          <p:cNvSpPr txBox="1"/>
          <p:nvPr/>
        </p:nvSpPr>
        <p:spPr>
          <a:xfrm>
            <a:off x="594360" y="4206240"/>
            <a:ext cx="1737360" cy="27432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automated tests</a:t>
            </a:r>
            <a:endParaRPr lang="en-US" sz="950" dirty="0"/>
          </a:p>
        </p:txBody>
      </p:sp>
      <p:sp>
        <p:nvSpPr>
          <p:cNvPr id="16" name="Shape 14"/>
          <p:cNvSpPr/>
          <p:nvPr/>
        </p:nvSpPr>
        <p:spPr>
          <a:xfrm>
            <a:off x="2542032" y="3794760"/>
            <a:ext cx="1920240" cy="777240"/>
          </a:xfrm>
          <a:prstGeom prst="roundRect">
            <a:avLst>
              <a:gd name="adj" fmla="val 9412"/>
            </a:avLst>
          </a:prstGeom>
          <a:solidFill>
            <a:srgbClr val="FBF1DF"/>
          </a:solidFill>
          <a:ln w="9525">
            <a:solidFill>
              <a:srgbClr val="FBF1DF"/>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2679192" y="3877056"/>
            <a:ext cx="1737360" cy="320040"/>
          </a:xfrm>
          <a:prstGeom prst="rect">
            <a:avLst/>
          </a:prstGeom>
          <a:noFill/>
          <a:ln/>
        </p:spPr>
        <p:txBody>
          <a:bodyPr wrap="square" lIns="0" tIns="0" rIns="0" bIns="0" rtlCol="0" anchor="t"/>
          <a:lstStyle/>
          <a:p>
            <a:pPr indent="0" marL="0">
              <a:buNone/>
            </a:pPr>
            <a:r>
              <a:rPr lang="en-US" sz="1700" b="1" dirty="0">
                <a:solidFill>
                  <a:srgbClr val="0F3D3E"/>
                </a:solidFill>
                <a:latin typeface="Cambria" pitchFamily="34" charset="0"/>
                <a:ea typeface="Cambria" pitchFamily="34" charset="-122"/>
                <a:cs typeface="Cambria" pitchFamily="34" charset="-120"/>
              </a:rPr>
              <a:t>0</a:t>
            </a:r>
            <a:endParaRPr lang="en-US" sz="1700" dirty="0"/>
          </a:p>
        </p:txBody>
      </p:sp>
      <p:sp>
        <p:nvSpPr>
          <p:cNvPr id="18" name="Text 16"/>
          <p:cNvSpPr txBox="1"/>
          <p:nvPr/>
        </p:nvSpPr>
        <p:spPr>
          <a:xfrm>
            <a:off x="2679192" y="4206240"/>
            <a:ext cx="1737360" cy="27432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serious axe violations</a:t>
            </a:r>
            <a:endParaRPr lang="en-US" sz="950" dirty="0"/>
          </a:p>
        </p:txBody>
      </p:sp>
      <p:sp>
        <p:nvSpPr>
          <p:cNvPr id="19" name="Shape 17"/>
          <p:cNvSpPr/>
          <p:nvPr/>
        </p:nvSpPr>
        <p:spPr>
          <a:xfrm>
            <a:off x="4626864" y="3794760"/>
            <a:ext cx="1920240" cy="777240"/>
          </a:xfrm>
          <a:prstGeom prst="roundRect">
            <a:avLst>
              <a:gd name="adj" fmla="val 9412"/>
            </a:avLst>
          </a:prstGeom>
          <a:solidFill>
            <a:srgbClr val="FBF1DF"/>
          </a:solidFill>
          <a:ln w="9525">
            <a:solidFill>
              <a:srgbClr val="FBF1DF"/>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4764024" y="3877056"/>
            <a:ext cx="1737360" cy="320040"/>
          </a:xfrm>
          <a:prstGeom prst="rect">
            <a:avLst/>
          </a:prstGeom>
          <a:noFill/>
          <a:ln/>
        </p:spPr>
        <p:txBody>
          <a:bodyPr wrap="square" lIns="0" tIns="0" rIns="0" bIns="0" rtlCol="0" anchor="t"/>
          <a:lstStyle/>
          <a:p>
            <a:pPr indent="0" marL="0">
              <a:buNone/>
            </a:pPr>
            <a:r>
              <a:rPr lang="en-US" sz="1700" b="1" dirty="0">
                <a:solidFill>
                  <a:srgbClr val="0F3D3E"/>
                </a:solidFill>
                <a:latin typeface="Cambria" pitchFamily="34" charset="0"/>
                <a:ea typeface="Cambria" pitchFamily="34" charset="-122"/>
                <a:cs typeface="Cambria" pitchFamily="34" charset="-120"/>
              </a:rPr>
              <a:t>99 to 100</a:t>
            </a:r>
            <a:endParaRPr lang="en-US" sz="1700" dirty="0"/>
          </a:p>
        </p:txBody>
      </p:sp>
      <p:sp>
        <p:nvSpPr>
          <p:cNvPr id="21" name="Text 19"/>
          <p:cNvSpPr txBox="1"/>
          <p:nvPr/>
        </p:nvSpPr>
        <p:spPr>
          <a:xfrm>
            <a:off x="4764024" y="4206240"/>
            <a:ext cx="1737360" cy="27432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Lighthouse, desktop</a:t>
            </a:r>
            <a:endParaRPr lang="en-US" sz="950" dirty="0"/>
          </a:p>
        </p:txBody>
      </p:sp>
      <p:sp>
        <p:nvSpPr>
          <p:cNvPr id="22" name="Shape 20"/>
          <p:cNvSpPr/>
          <p:nvPr/>
        </p:nvSpPr>
        <p:spPr>
          <a:xfrm>
            <a:off x="6711696" y="3794760"/>
            <a:ext cx="1920240" cy="777240"/>
          </a:xfrm>
          <a:prstGeom prst="roundRect">
            <a:avLst>
              <a:gd name="adj" fmla="val 9412"/>
            </a:avLst>
          </a:prstGeom>
          <a:solidFill>
            <a:srgbClr val="FBF1DF"/>
          </a:solidFill>
          <a:ln w="9525">
            <a:solidFill>
              <a:srgbClr val="FBF1DF"/>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6848856" y="3877056"/>
            <a:ext cx="1737360" cy="320040"/>
          </a:xfrm>
          <a:prstGeom prst="rect">
            <a:avLst/>
          </a:prstGeom>
          <a:noFill/>
          <a:ln/>
        </p:spPr>
        <p:txBody>
          <a:bodyPr wrap="square" lIns="0" tIns="0" rIns="0" bIns="0" rtlCol="0" anchor="t"/>
          <a:lstStyle/>
          <a:p>
            <a:pPr indent="0" marL="0">
              <a:buNone/>
            </a:pPr>
            <a:r>
              <a:rPr lang="en-US" sz="1700" b="1" dirty="0">
                <a:solidFill>
                  <a:srgbClr val="0F3D3E"/>
                </a:solidFill>
                <a:latin typeface="Cambria" pitchFamily="34" charset="0"/>
                <a:ea typeface="Cambria" pitchFamily="34" charset="-122"/>
                <a:cs typeface="Cambria" pitchFamily="34" charset="-120"/>
              </a:rPr>
              <a:t>about ₹36</a:t>
            </a:r>
            <a:endParaRPr lang="en-US" sz="1700" dirty="0"/>
          </a:p>
        </p:txBody>
      </p:sp>
      <p:sp>
        <p:nvSpPr>
          <p:cNvPr id="24" name="Text 22"/>
          <p:cNvSpPr txBox="1"/>
          <p:nvPr/>
        </p:nvSpPr>
        <p:spPr>
          <a:xfrm>
            <a:off x="6848856" y="4206240"/>
            <a:ext cx="1737360" cy="27432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AI cost per family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F0EE"/>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04  ·  TECHNICAL IMPLEMENTATION: MEASURED, NOT CLAIMED</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400" b="1" dirty="0">
                <a:solidFill>
                  <a:srgbClr val="1B2424"/>
                </a:solidFill>
                <a:latin typeface="Cambria" pitchFamily="34" charset="0"/>
                <a:ea typeface="Cambria" pitchFamily="34" charset="-122"/>
                <a:cs typeface="Cambria" pitchFamily="34" charset="-120"/>
              </a:rPr>
              <a:t>Built for a cheap phone, in your language</a:t>
            </a:r>
            <a:endParaRPr lang="en-US" sz="2400" dirty="0"/>
          </a:p>
        </p:txBody>
      </p:sp>
      <p:sp>
        <p:nvSpPr>
          <p:cNvPr id="4" name="Shape 2"/>
          <p:cNvSpPr/>
          <p:nvPr/>
        </p:nvSpPr>
        <p:spPr>
          <a:xfrm>
            <a:off x="420624" y="1335024"/>
            <a:ext cx="4005072" cy="2267712"/>
          </a:xfrm>
          <a:prstGeom prst="roundRect">
            <a:avLst>
              <a:gd name="adj" fmla="val 2419"/>
            </a:avLst>
          </a:prstGeom>
          <a:solidFill>
            <a:srgbClr val="EDF2F1"/>
          </a:solidFill>
          <a:ln w="9525">
            <a:solidFill>
              <a:srgbClr val="D5E2DF"/>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457200" y="1371600"/>
            <a:ext cx="3931920" cy="2194560"/>
          </a:xfrm>
          <a:prstGeom prst="rect">
            <a:avLst/>
          </a:prstGeom>
        </p:spPr>
      </p:pic>
      <p:sp>
        <p:nvSpPr>
          <p:cNvPr id="6" name="Shape 3"/>
          <p:cNvSpPr/>
          <p:nvPr/>
        </p:nvSpPr>
        <p:spPr>
          <a:xfrm>
            <a:off x="4718304" y="1335024"/>
            <a:ext cx="1490472" cy="3136392"/>
          </a:xfrm>
          <a:prstGeom prst="roundRect">
            <a:avLst>
              <a:gd name="adj" fmla="val 3681"/>
            </a:avLst>
          </a:prstGeom>
          <a:solidFill>
            <a:srgbClr val="EDF2F1"/>
          </a:solidFill>
          <a:ln w="9525">
            <a:solidFill>
              <a:srgbClr val="D5E2DF"/>
            </a:solidFill>
            <a:prstDash val="solid"/>
          </a:ln>
          <a:effectLst>
            <a:outerShdw sx="100000" sy="100000" kx="0" ky="0" algn="bl" rotWithShape="0" blurRad="101600" dist="25400" dir="5400000">
              <a:srgbClr val="000000">
                <a:alpha val="12000"/>
              </a:srgbClr>
            </a:outerShdw>
          </a:effectLst>
        </p:spPr>
      </p:sp>
      <p:pic>
        <p:nvPicPr>
          <p:cNvPr id="7" name="Image 1" descr="preencoded.png">    </p:cNvPr>
          <p:cNvPicPr>
            <a:picLocks noChangeAspect="1"/>
          </p:cNvPicPr>
          <p:nvPr/>
        </p:nvPicPr>
        <p:blipFill>
          <a:blip r:embed="rId2"/>
          <a:stretch>
            <a:fillRect/>
          </a:stretch>
        </p:blipFill>
        <p:spPr>
          <a:xfrm>
            <a:off x="4754880" y="1371600"/>
            <a:ext cx="1417320" cy="3063240"/>
          </a:xfrm>
          <a:prstGeom prst="rect">
            <a:avLst/>
          </a:prstGeom>
        </p:spPr>
      </p:pic>
      <p:sp>
        <p:nvSpPr>
          <p:cNvPr id="8" name="Text 4"/>
          <p:cNvSpPr txBox="1"/>
          <p:nvPr/>
        </p:nvSpPr>
        <p:spPr>
          <a:xfrm>
            <a:off x="6446520" y="1371600"/>
            <a:ext cx="2286000" cy="228600"/>
          </a:xfrm>
          <a:prstGeom prst="rect">
            <a:avLst/>
          </a:prstGeom>
          <a:noFill/>
          <a:ln/>
        </p:spPr>
        <p:txBody>
          <a:bodyPr wrap="square" lIns="0" tIns="0" rIns="0" bIns="0" rtlCol="0" anchor="t"/>
          <a:lstStyle/>
          <a:p>
            <a:pPr indent="0" marL="0">
              <a:buNone/>
            </a:pPr>
            <a:r>
              <a:rPr lang="en-US" sz="1050" b="1" dirty="0">
                <a:solidFill>
                  <a:srgbClr val="0F3D3E"/>
                </a:solidFill>
                <a:latin typeface="Calibri" pitchFamily="34" charset="0"/>
                <a:ea typeface="Calibri" pitchFamily="34" charset="-122"/>
                <a:cs typeface="Calibri" pitchFamily="34" charset="-120"/>
              </a:rPr>
              <a:t>Accessibility (axe, WCAG 2.2 AA)</a:t>
            </a:r>
            <a:endParaRPr lang="en-US" sz="1050" dirty="0"/>
          </a:p>
        </p:txBody>
      </p:sp>
      <p:sp>
        <p:nvSpPr>
          <p:cNvPr id="9" name="Text 5"/>
          <p:cNvSpPr txBox="1"/>
          <p:nvPr/>
        </p:nvSpPr>
        <p:spPr>
          <a:xfrm>
            <a:off x="6446520" y="1591056"/>
            <a:ext cx="2286000" cy="566928"/>
          </a:xfrm>
          <a:prstGeom prst="rect">
            <a:avLst/>
          </a:prstGeom>
          <a:noFill/>
          <a:ln/>
        </p:spPr>
        <p:txBody>
          <a:bodyPr wrap="square" lIns="0" tIns="0" rIns="0" bIns="0" rtlCol="0" anchor="t"/>
          <a:lstStyle/>
          <a:p>
            <a:pPr indent="0" marL="0">
              <a:buNone/>
            </a:pPr>
            <a:r>
              <a:rPr lang="en-US" sz="850" dirty="0">
                <a:solidFill>
                  <a:srgbClr val="1B2424"/>
                </a:solidFill>
                <a:latin typeface="Calibri" pitchFamily="34" charset="0"/>
                <a:ea typeface="Calibri" pitchFamily="34" charset="-122"/>
                <a:cs typeface="Calibri" pitchFamily="34" charset="-120"/>
              </a:rPr>
              <a:t>0 serious or critical across 11 pages, light and dark</a:t>
            </a:r>
            <a:endParaRPr lang="en-US" sz="850" dirty="0"/>
          </a:p>
        </p:txBody>
      </p:sp>
      <p:sp>
        <p:nvSpPr>
          <p:cNvPr id="10" name="Text 6"/>
          <p:cNvSpPr txBox="1"/>
          <p:nvPr/>
        </p:nvSpPr>
        <p:spPr>
          <a:xfrm>
            <a:off x="6446520" y="2148840"/>
            <a:ext cx="2286000" cy="228600"/>
          </a:xfrm>
          <a:prstGeom prst="rect">
            <a:avLst/>
          </a:prstGeom>
          <a:noFill/>
          <a:ln/>
        </p:spPr>
        <p:txBody>
          <a:bodyPr wrap="square" lIns="0" tIns="0" rIns="0" bIns="0" rtlCol="0" anchor="t"/>
          <a:lstStyle/>
          <a:p>
            <a:pPr indent="0" marL="0">
              <a:buNone/>
            </a:pPr>
            <a:r>
              <a:rPr lang="en-US" sz="1050" b="1" dirty="0">
                <a:solidFill>
                  <a:srgbClr val="0F3D3E"/>
                </a:solidFill>
                <a:latin typeface="Calibri" pitchFamily="34" charset="0"/>
                <a:ea typeface="Calibri" pitchFamily="34" charset="-122"/>
                <a:cs typeface="Calibri" pitchFamily="34" charset="-120"/>
              </a:rPr>
              <a:t>Lighthouse, live, 3 runs each</a:t>
            </a:r>
            <a:endParaRPr lang="en-US" sz="1050" dirty="0"/>
          </a:p>
        </p:txBody>
      </p:sp>
      <p:sp>
        <p:nvSpPr>
          <p:cNvPr id="11" name="Text 7"/>
          <p:cNvSpPr txBox="1"/>
          <p:nvPr/>
        </p:nvSpPr>
        <p:spPr>
          <a:xfrm>
            <a:off x="6446520" y="2368296"/>
            <a:ext cx="2286000" cy="566928"/>
          </a:xfrm>
          <a:prstGeom prst="rect">
            <a:avLst/>
          </a:prstGeom>
          <a:noFill/>
          <a:ln/>
        </p:spPr>
        <p:txBody>
          <a:bodyPr wrap="square" lIns="0" tIns="0" rIns="0" bIns="0" rtlCol="0" anchor="t"/>
          <a:lstStyle/>
          <a:p>
            <a:pPr indent="0" marL="0">
              <a:buNone/>
            </a:pPr>
            <a:r>
              <a:rPr lang="en-US" sz="850" dirty="0">
                <a:solidFill>
                  <a:srgbClr val="1B2424"/>
                </a:solidFill>
                <a:latin typeface="Calibri" pitchFamily="34" charset="0"/>
                <a:ea typeface="Calibri" pitchFamily="34" charset="-122"/>
                <a:cs typeface="Calibri" pitchFamily="34" charset="-120"/>
              </a:rPr>
              <a:t>99 to 100 desktop, never below 90 on a throttled phone. 100 accessibility, best practices and SEO on both, and layout shift under a quarter of the 0.1 threshold.</a:t>
            </a:r>
            <a:endParaRPr lang="en-US" sz="850" dirty="0"/>
          </a:p>
        </p:txBody>
      </p:sp>
      <p:sp>
        <p:nvSpPr>
          <p:cNvPr id="12" name="Text 8"/>
          <p:cNvSpPr txBox="1"/>
          <p:nvPr/>
        </p:nvSpPr>
        <p:spPr>
          <a:xfrm>
            <a:off x="6446520" y="2926080"/>
            <a:ext cx="2286000" cy="228600"/>
          </a:xfrm>
          <a:prstGeom prst="rect">
            <a:avLst/>
          </a:prstGeom>
          <a:noFill/>
          <a:ln/>
        </p:spPr>
        <p:txBody>
          <a:bodyPr wrap="square" lIns="0" tIns="0" rIns="0" bIns="0" rtlCol="0" anchor="t"/>
          <a:lstStyle/>
          <a:p>
            <a:pPr indent="0" marL="0">
              <a:buNone/>
            </a:pPr>
            <a:r>
              <a:rPr lang="en-US" sz="1050" b="1" dirty="0">
                <a:solidFill>
                  <a:srgbClr val="0F3D3E"/>
                </a:solidFill>
                <a:latin typeface="Calibri" pitchFamily="34" charset="0"/>
                <a:ea typeface="Calibri" pitchFamily="34" charset="-122"/>
                <a:cs typeface="Calibri" pitchFamily="34" charset="-120"/>
              </a:rPr>
              <a:t>Works with no signal</a:t>
            </a:r>
            <a:endParaRPr lang="en-US" sz="1050" dirty="0"/>
          </a:p>
        </p:txBody>
      </p:sp>
      <p:sp>
        <p:nvSpPr>
          <p:cNvPr id="13" name="Text 9"/>
          <p:cNvSpPr txBox="1"/>
          <p:nvPr/>
        </p:nvSpPr>
        <p:spPr>
          <a:xfrm>
            <a:off x="6446520" y="3145536"/>
            <a:ext cx="2286000" cy="566928"/>
          </a:xfrm>
          <a:prstGeom prst="rect">
            <a:avLst/>
          </a:prstGeom>
          <a:noFill/>
          <a:ln/>
        </p:spPr>
        <p:txBody>
          <a:bodyPr wrap="square" lIns="0" tIns="0" rIns="0" bIns="0" rtlCol="0" anchor="t"/>
          <a:lstStyle/>
          <a:p>
            <a:pPr indent="0" marL="0">
              <a:buNone/>
            </a:pPr>
            <a:r>
              <a:rPr lang="en-US" sz="850" dirty="0">
                <a:solidFill>
                  <a:srgbClr val="1B2424"/>
                </a:solidFill>
                <a:latin typeface="Calibri" pitchFamily="34" charset="0"/>
                <a:ea typeface="Calibri" pitchFamily="34" charset="-122"/>
                <a:cs typeface="Calibri" pitchFamily="34" charset="-120"/>
              </a:rPr>
              <a:t>Installable. A service worker keeps every opened page, the Vault and the glossary working offline, and says which steps are waiting.</a:t>
            </a:r>
            <a:endParaRPr lang="en-US" sz="850" dirty="0"/>
          </a:p>
        </p:txBody>
      </p:sp>
      <p:sp>
        <p:nvSpPr>
          <p:cNvPr id="14" name="Text 10"/>
          <p:cNvSpPr txBox="1"/>
          <p:nvPr/>
        </p:nvSpPr>
        <p:spPr>
          <a:xfrm>
            <a:off x="6446520" y="3703320"/>
            <a:ext cx="2286000" cy="228600"/>
          </a:xfrm>
          <a:prstGeom prst="rect">
            <a:avLst/>
          </a:prstGeom>
          <a:noFill/>
          <a:ln/>
        </p:spPr>
        <p:txBody>
          <a:bodyPr wrap="square" lIns="0" tIns="0" rIns="0" bIns="0" rtlCol="0" anchor="t"/>
          <a:lstStyle/>
          <a:p>
            <a:pPr indent="0" marL="0">
              <a:buNone/>
            </a:pPr>
            <a:r>
              <a:rPr lang="en-US" sz="1050" b="1" dirty="0">
                <a:solidFill>
                  <a:srgbClr val="0F3D3E"/>
                </a:solidFill>
                <a:latin typeface="Calibri" pitchFamily="34" charset="0"/>
                <a:ea typeface="Calibri" pitchFamily="34" charset="-122"/>
                <a:cs typeface="Calibri" pitchFamily="34" charset="-120"/>
              </a:rPr>
              <a:t>Languages and reach</a:t>
            </a:r>
            <a:endParaRPr lang="en-US" sz="1050" dirty="0"/>
          </a:p>
        </p:txBody>
      </p:sp>
      <p:sp>
        <p:nvSpPr>
          <p:cNvPr id="15" name="Text 11"/>
          <p:cNvSpPr txBox="1"/>
          <p:nvPr/>
        </p:nvSpPr>
        <p:spPr>
          <a:xfrm>
            <a:off x="6446520" y="3922776"/>
            <a:ext cx="2286000" cy="566928"/>
          </a:xfrm>
          <a:prstGeom prst="rect">
            <a:avLst/>
          </a:prstGeom>
          <a:noFill/>
          <a:ln/>
        </p:spPr>
        <p:txBody>
          <a:bodyPr wrap="square" lIns="0" tIns="0" rIns="0" bIns="0" rtlCol="0" anchor="t"/>
          <a:lstStyle/>
          <a:p>
            <a:pPr indent="0" marL="0">
              <a:buNone/>
            </a:pPr>
            <a:r>
              <a:rPr lang="en-US" sz="850" dirty="0">
                <a:solidFill>
                  <a:srgbClr val="1B2424"/>
                </a:solidFill>
                <a:latin typeface="Calibri" pitchFamily="34" charset="0"/>
                <a:ea typeface="Calibri" pitchFamily="34" charset="-122"/>
                <a:cs typeface="Calibri" pitchFamily="34" charset="-120"/>
              </a:rPr>
              <a:t>English and Hindi on every screen including the rule output and the debate. 320 px, 44 px controls, voice in and out, no sign up.</a:t>
            </a:r>
            <a:endParaRPr lang="en-US" sz="850" dirty="0"/>
          </a:p>
        </p:txBody>
      </p:sp>
      <p:sp>
        <p:nvSpPr>
          <p:cNvPr id="16" name="Text 12"/>
          <p:cNvSpPr txBox="1"/>
          <p:nvPr/>
        </p:nvSpPr>
        <p:spPr>
          <a:xfrm>
            <a:off x="457200" y="3703320"/>
            <a:ext cx="3931920" cy="274320"/>
          </a:xfrm>
          <a:prstGeom prst="rect">
            <a:avLst/>
          </a:prstGeom>
          <a:noFill/>
          <a:ln/>
        </p:spPr>
        <p:txBody>
          <a:bodyPr wrap="square" lIns="0" tIns="0" rIns="0" bIns="0" rtlCol="0" anchor="t"/>
          <a:lstStyle/>
          <a:p>
            <a:pPr indent="0" marL="0">
              <a:buNone/>
            </a:pPr>
            <a:r>
              <a:rPr lang="en-US" sz="1000" dirty="0">
                <a:solidFill>
                  <a:srgbClr val="5B6B6A"/>
                </a:solidFill>
                <a:latin typeface="Calibri" pitchFamily="34" charset="0"/>
                <a:ea typeface="Calibri" pitchFamily="34" charset="-122"/>
                <a:cs typeface="Calibri" pitchFamily="34" charset="-120"/>
              </a:rPr>
              <a:t>Dark mode and Hindi are one tap from any screen.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05  ·  PRODUCT DEMONSTRATION</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400" b="1" dirty="0">
                <a:solidFill>
                  <a:srgbClr val="1B2424"/>
                </a:solidFill>
                <a:latin typeface="Cambria" pitchFamily="34" charset="0"/>
                <a:ea typeface="Cambria" pitchFamily="34" charset="-122"/>
                <a:cs typeface="Cambria" pitchFamily="34" charset="-120"/>
              </a:rPr>
              <a:t>This is the working product, not a mock-up</a:t>
            </a:r>
            <a:endParaRPr lang="en-US" sz="2400" dirty="0"/>
          </a:p>
        </p:txBody>
      </p:sp>
      <p:sp>
        <p:nvSpPr>
          <p:cNvPr id="4" name="Shape 2"/>
          <p:cNvSpPr/>
          <p:nvPr/>
        </p:nvSpPr>
        <p:spPr>
          <a:xfrm>
            <a:off x="420624" y="1289304"/>
            <a:ext cx="4096512" cy="2907792"/>
          </a:xfrm>
          <a:prstGeom prst="roundRect">
            <a:avLst>
              <a:gd name="adj" fmla="val 1887"/>
            </a:avLst>
          </a:prstGeom>
          <a:solidFill>
            <a:srgbClr val="EDF2F1"/>
          </a:solidFill>
          <a:ln w="9525">
            <a:solidFill>
              <a:srgbClr val="D5E2DF"/>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457200" y="1325880"/>
            <a:ext cx="4023360" cy="2834640"/>
          </a:xfrm>
          <a:prstGeom prst="rect">
            <a:avLst/>
          </a:prstGeom>
        </p:spPr>
      </p:pic>
      <p:sp>
        <p:nvSpPr>
          <p:cNvPr id="6" name="Shape 3"/>
          <p:cNvSpPr/>
          <p:nvPr/>
        </p:nvSpPr>
        <p:spPr>
          <a:xfrm>
            <a:off x="4626864" y="1289304"/>
            <a:ext cx="4096512" cy="2907792"/>
          </a:xfrm>
          <a:prstGeom prst="roundRect">
            <a:avLst>
              <a:gd name="adj" fmla="val 1887"/>
            </a:avLst>
          </a:prstGeom>
          <a:solidFill>
            <a:srgbClr val="EDF2F1"/>
          </a:solidFill>
          <a:ln w="9525">
            <a:solidFill>
              <a:srgbClr val="D5E2DF"/>
            </a:solidFill>
            <a:prstDash val="solid"/>
          </a:ln>
          <a:effectLst>
            <a:outerShdw sx="100000" sy="100000" kx="0" ky="0" algn="bl" rotWithShape="0" blurRad="101600" dist="25400" dir="5400000">
              <a:srgbClr val="000000">
                <a:alpha val="12000"/>
              </a:srgbClr>
            </a:outerShdw>
          </a:effectLst>
        </p:spPr>
      </p:sp>
      <p:pic>
        <p:nvPicPr>
          <p:cNvPr id="7" name="Image 1" descr="preencoded.png">    </p:cNvPr>
          <p:cNvPicPr>
            <a:picLocks noChangeAspect="1"/>
          </p:cNvPicPr>
          <p:nvPr/>
        </p:nvPicPr>
        <p:blipFill>
          <a:blip r:embed="rId2"/>
          <a:stretch>
            <a:fillRect/>
          </a:stretch>
        </p:blipFill>
        <p:spPr>
          <a:xfrm>
            <a:off x="4663440" y="1325880"/>
            <a:ext cx="4023360" cy="2834640"/>
          </a:xfrm>
          <a:prstGeom prst="rect">
            <a:avLst/>
          </a:prstGeom>
        </p:spPr>
      </p:pic>
      <p:sp>
        <p:nvSpPr>
          <p:cNvPr id="8" name="Text 4"/>
          <p:cNvSpPr txBox="1"/>
          <p:nvPr/>
        </p:nvSpPr>
        <p:spPr>
          <a:xfrm>
            <a:off x="457200" y="4224528"/>
            <a:ext cx="4023360" cy="548640"/>
          </a:xfrm>
          <a:prstGeom prst="rect">
            <a:avLst/>
          </a:prstGeom>
          <a:noFill/>
          <a:ln/>
        </p:spPr>
        <p:txBody>
          <a:bodyPr wrap="square" lIns="0" tIns="0" rIns="0" bIns="0" rtlCol="0" anchor="t"/>
          <a:lstStyle/>
          <a:p>
            <a:pPr indent="0" marL="0">
              <a:buNone/>
            </a:pPr>
            <a:r>
              <a:rPr lang="en-US" sz="1000" dirty="0">
                <a:solidFill>
                  <a:srgbClr val="5B6B6A"/>
                </a:solidFill>
                <a:latin typeface="Calibri" pitchFamily="34" charset="0"/>
                <a:ea typeface="Calibri" pitchFamily="34" charset="-122"/>
                <a:cs typeface="Calibri" pitchFamily="34" charset="-120"/>
              </a:rPr>
              <a:t>Find: three sample papers and the tax statement become a list of ₹4.85 lakh waiting in 5 places, each with its own portal and guided steps.</a:t>
            </a:r>
            <a:endParaRPr lang="en-US" sz="1000" dirty="0"/>
          </a:p>
        </p:txBody>
      </p:sp>
      <p:sp>
        <p:nvSpPr>
          <p:cNvPr id="9" name="Text 5"/>
          <p:cNvSpPr txBox="1"/>
          <p:nvPr/>
        </p:nvSpPr>
        <p:spPr>
          <a:xfrm>
            <a:off x="4663440" y="4224528"/>
            <a:ext cx="4023360" cy="548640"/>
          </a:xfrm>
          <a:prstGeom prst="rect">
            <a:avLst/>
          </a:prstGeom>
          <a:noFill/>
          <a:ln/>
        </p:spPr>
        <p:txBody>
          <a:bodyPr wrap="square" lIns="0" tIns="0" rIns="0" bIns="0" rtlCol="0" anchor="t"/>
          <a:lstStyle/>
          <a:p>
            <a:pPr indent="0" marL="0">
              <a:buNone/>
            </a:pPr>
            <a:r>
              <a:rPr lang="en-US" sz="1000" dirty="0">
                <a:solidFill>
                  <a:srgbClr val="5B6B6A"/>
                </a:solidFill>
                <a:latin typeface="Calibri" pitchFamily="34" charset="0"/>
                <a:ea typeface="Calibri" pitchFamily="34" charset="-122"/>
                <a:cs typeface="Calibri" pitchFamily="34" charset="-120"/>
              </a:rPr>
              <a:t>Claim: the rule engine picks the route, the AI Review checks it, and the filled claim pack downloads as a PDF.</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06  ·  IMPACT</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What changes for one family, and for the country</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029200" cy="914400"/>
        </p:xfrm>
        <a:graphic>
          <a:graphicData uri="http://schemas.openxmlformats.org/drawingml/2006/table">
            <a:tbl>
              <a:tblPr/>
              <a:tblGrid>
                <a:gridCol w="1737360"/>
                <a:gridCol w="1554480"/>
                <a:gridCol w="1737360"/>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 ₹4.2 lakh owed</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Today</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With Virasat</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1F6F6B"/>
                    </a:solidFill>
                  </a:tcPr>
                </a:tc>
              </a:tr>
              <a:tr h="548640">
                <a:tc>
                  <a:txBody>
                    <a:bodyPr/>
                    <a:lstStyle/>
                    <a:p>
                      <a:pPr indent="0" marL="0">
                        <a:buNone/>
                      </a:pPr>
                      <a:r>
                        <a:rPr lang="en-US" sz="1050" b="1" dirty="0">
                          <a:solidFill>
                            <a:srgbClr val="1B2424"/>
                          </a:solidFill>
                          <a:latin typeface="Calibri" pitchFamily="34" charset="0"/>
                          <a:ea typeface="Calibri" pitchFamily="34" charset="-122"/>
                          <a:cs typeface="Calibri" pitchFamily="34" charset="-120"/>
                        </a:rPr>
                        <a:t>Agent's cut (5 to 15%)</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050" dirty="0">
                          <a:solidFill>
                            <a:srgbClr val="1B2424"/>
                          </a:solidFill>
                          <a:latin typeface="Calibri" pitchFamily="34" charset="0"/>
                          <a:ea typeface="Calibri" pitchFamily="34" charset="-122"/>
                          <a:cs typeface="Calibri" pitchFamily="34" charset="-120"/>
                        </a:rPr>
                        <a:t>₹21,000 to ₹63,000</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050" b="1" dirty="0">
                          <a:solidFill>
                            <a:srgbClr val="0F3D3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2F8F6"/>
                    </a:solidFill>
                  </a:tcPr>
                </a:tc>
              </a:tr>
              <a:tr h="548640">
                <a:tc>
                  <a:txBody>
                    <a:bodyPr/>
                    <a:lstStyle/>
                    <a:p>
                      <a:pPr indent="0" marL="0">
                        <a:buNone/>
                      </a:pPr>
                      <a:r>
                        <a:rPr lang="en-US" sz="1050" b="1" dirty="0">
                          <a:solidFill>
                            <a:srgbClr val="1B2424"/>
                          </a:solidFill>
                          <a:latin typeface="Calibri" pitchFamily="34" charset="0"/>
                          <a:ea typeface="Calibri" pitchFamily="34" charset="-122"/>
                          <a:cs typeface="Calibri" pitchFamily="34" charset="-120"/>
                        </a:rPr>
                        <a:t>Time on paperwork</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050" dirty="0">
                          <a:solidFill>
                            <a:srgbClr val="1B2424"/>
                          </a:solidFill>
                          <a:latin typeface="Calibri" pitchFamily="34" charset="0"/>
                          <a:ea typeface="Calibri" pitchFamily="34" charset="-122"/>
                          <a:cs typeface="Calibri" pitchFamily="34" charset="-120"/>
                        </a:rPr>
                        <a:t>Months of office visits</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050" b="1" dirty="0">
                          <a:solidFill>
                            <a:srgbClr val="0F3D3E"/>
                          </a:solidFill>
                          <a:latin typeface="Calibri" pitchFamily="34" charset="0"/>
                          <a:ea typeface="Calibri" pitchFamily="34" charset="-122"/>
                          <a:cs typeface="Calibri" pitchFamily="34" charset="-120"/>
                        </a:rPr>
                        <a:t>Forms ready the same day</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2F8F6"/>
                    </a:solidFill>
                  </a:tcPr>
                </a:tc>
              </a:tr>
              <a:tr h="548640">
                <a:tc>
                  <a:txBody>
                    <a:bodyPr/>
                    <a:lstStyle/>
                    <a:p>
                      <a:pPr indent="0" marL="0">
                        <a:buNone/>
                      </a:pPr>
                      <a:r>
                        <a:rPr lang="en-US" sz="1050" b="1" dirty="0">
                          <a:solidFill>
                            <a:srgbClr val="1B2424"/>
                          </a:solidFill>
                          <a:latin typeface="Calibri" pitchFamily="34" charset="0"/>
                          <a:ea typeface="Calibri" pitchFamily="34" charset="-122"/>
                          <a:cs typeface="Calibri" pitchFamily="34" charset="-120"/>
                        </a:rPr>
                        <a:t>Chance of missing money</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050" dirty="0">
                          <a:solidFill>
                            <a:srgbClr val="1B2424"/>
                          </a:solidFill>
                          <a:latin typeface="Calibri" pitchFamily="34" charset="0"/>
                          <a:ea typeface="Calibri" pitchFamily="34" charset="-122"/>
                          <a:cs typeface="Calibri" pitchFamily="34" charset="-120"/>
                        </a:rPr>
                        <a:t>High: nobody knows what exists</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050" b="1" dirty="0">
                          <a:solidFill>
                            <a:srgbClr val="0F3D3E"/>
                          </a:solidFill>
                          <a:latin typeface="Calibri" pitchFamily="34" charset="0"/>
                          <a:ea typeface="Calibri" pitchFamily="34" charset="-122"/>
                          <a:cs typeface="Calibri" pitchFamily="34" charset="-120"/>
                        </a:rPr>
                        <a:t>Low: the tax statement shows every bank</a:t>
                      </a:r>
                      <a:endParaRPr lang="en-US" sz="1050" dirty="0">
                        <a:latin typeface="Calibri" charset="0"/>
                        <a:ea typeface="Calibri" charset="0"/>
                        <a:cs typeface="Calibri" charset="0"/>
                      </a:endParaRPr>
                    </a:p>
                  </a:txBody>
                  <a:tcPr marL="73152" marR="73152" marT="45720" marB="45720"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2F8F6"/>
                    </a:solidFill>
                  </a:tcPr>
                </a:tc>
              </a:tr>
            </a:tbl>
          </a:graphicData>
        </a:graphic>
      </p:graphicFrame>
      <p:sp>
        <p:nvSpPr>
          <p:cNvPr id="5" name="Shape 2"/>
          <p:cNvSpPr/>
          <p:nvPr/>
        </p:nvSpPr>
        <p:spPr>
          <a:xfrm>
            <a:off x="5760720" y="1417320"/>
            <a:ext cx="2926080" cy="941832"/>
          </a:xfrm>
          <a:prstGeom prst="roundRect">
            <a:avLst>
              <a:gd name="adj" fmla="val 7767"/>
            </a:avLst>
          </a:prstGeom>
          <a:solidFill>
            <a:srgbClr val="E3A33B"/>
          </a:solidFill>
          <a:ln w="9525">
            <a:solidFill>
              <a:srgbClr val="E3A33B"/>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5943600" y="1508760"/>
            <a:ext cx="2651760" cy="365760"/>
          </a:xfrm>
          <a:prstGeom prst="rect">
            <a:avLst/>
          </a:prstGeom>
          <a:noFill/>
          <a:ln/>
        </p:spPr>
        <p:txBody>
          <a:bodyPr wrap="square" lIns="0" tIns="0" rIns="0" bIns="0" rtlCol="0" anchor="t"/>
          <a:lstStyle/>
          <a:p>
            <a:pPr indent="0" marL="0">
              <a:buNone/>
            </a:pPr>
            <a:r>
              <a:rPr lang="en-US" sz="1900" b="1" dirty="0">
                <a:solidFill>
                  <a:srgbClr val="1B2424"/>
                </a:solidFill>
                <a:latin typeface="Cambria" pitchFamily="34" charset="0"/>
                <a:ea typeface="Cambria" pitchFamily="34" charset="-122"/>
                <a:cs typeface="Cambria" pitchFamily="34" charset="-120"/>
              </a:rPr>
              <a:t>₹184 crore</a:t>
            </a:r>
            <a:endParaRPr lang="en-US" sz="1900" dirty="0"/>
          </a:p>
        </p:txBody>
      </p:sp>
      <p:sp>
        <p:nvSpPr>
          <p:cNvPr id="7" name="Text 4"/>
          <p:cNvSpPr txBox="1"/>
          <p:nvPr/>
        </p:nvSpPr>
        <p:spPr>
          <a:xfrm>
            <a:off x="5943600" y="1874520"/>
            <a:ext cx="2651760" cy="45720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back to families if just 0.1 percent of the pool is claimed</a:t>
            </a:r>
            <a:endParaRPr lang="en-US" sz="950" dirty="0"/>
          </a:p>
        </p:txBody>
      </p:sp>
      <p:sp>
        <p:nvSpPr>
          <p:cNvPr id="8" name="Shape 5"/>
          <p:cNvSpPr/>
          <p:nvPr/>
        </p:nvSpPr>
        <p:spPr>
          <a:xfrm>
            <a:off x="5760720" y="2496312"/>
            <a:ext cx="2926080" cy="941832"/>
          </a:xfrm>
          <a:prstGeom prst="roundRect">
            <a:avLst>
              <a:gd name="adj" fmla="val 7767"/>
            </a:avLst>
          </a:prstGeom>
          <a:solidFill>
            <a:srgbClr val="0F3D3E"/>
          </a:solidFill>
          <a:ln w="9525">
            <a:solidFill>
              <a:srgbClr val="0F3D3E"/>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5943600" y="2587752"/>
            <a:ext cx="2651760"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₹38.7 crore</a:t>
            </a:r>
            <a:endParaRPr lang="en-US" sz="1900" dirty="0"/>
          </a:p>
        </p:txBody>
      </p:sp>
      <p:sp>
        <p:nvSpPr>
          <p:cNvPr id="10" name="Text 7"/>
          <p:cNvSpPr txBox="1"/>
          <p:nvPr/>
        </p:nvSpPr>
        <p:spPr>
          <a:xfrm>
            <a:off x="5943600" y="2953512"/>
            <a:ext cx="2651760"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saved in agent fees if we help 1 lakh families</a:t>
            </a:r>
            <a:endParaRPr lang="en-US" sz="950" dirty="0"/>
          </a:p>
        </p:txBody>
      </p:sp>
      <p:sp>
        <p:nvSpPr>
          <p:cNvPr id="11" name="Shape 8"/>
          <p:cNvSpPr/>
          <p:nvPr/>
        </p:nvSpPr>
        <p:spPr>
          <a:xfrm>
            <a:off x="5760720" y="3575304"/>
            <a:ext cx="2926080" cy="941832"/>
          </a:xfrm>
          <a:prstGeom prst="roundRect">
            <a:avLst>
              <a:gd name="adj" fmla="val 7767"/>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5943600" y="3666744"/>
            <a:ext cx="2651760" cy="365760"/>
          </a:xfrm>
          <a:prstGeom prst="rect">
            <a:avLst/>
          </a:prstGeom>
          <a:noFill/>
          <a:ln/>
        </p:spPr>
        <p:txBody>
          <a:bodyPr wrap="square" lIns="0" tIns="0" rIns="0" bIns="0" rtlCol="0" anchor="t"/>
          <a:lstStyle/>
          <a:p>
            <a:pPr indent="0" marL="0">
              <a:buNone/>
            </a:pPr>
            <a:r>
              <a:rPr lang="en-US" sz="1900" b="1" dirty="0">
                <a:solidFill>
                  <a:srgbClr val="0F3D3E"/>
                </a:solidFill>
                <a:latin typeface="Cambria" pitchFamily="34" charset="0"/>
                <a:ea typeface="Cambria" pitchFamily="34" charset="-122"/>
                <a:cs typeface="Cambria" pitchFamily="34" charset="-120"/>
              </a:rPr>
              <a:t>about ₹36</a:t>
            </a:r>
            <a:endParaRPr lang="en-US" sz="1900" dirty="0"/>
          </a:p>
        </p:txBody>
      </p:sp>
      <p:sp>
        <p:nvSpPr>
          <p:cNvPr id="13" name="Text 10"/>
          <p:cNvSpPr txBox="1"/>
          <p:nvPr/>
        </p:nvSpPr>
        <p:spPr>
          <a:xfrm>
            <a:off x="5943600" y="4032504"/>
            <a:ext cx="2651760" cy="45720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of AI per family, measured from real token counts against the live API, versus ₹38,700 returned on average. Roughly 1,060 rupees recovered per rupee spent.</a:t>
            </a:r>
            <a:endParaRPr lang="en-US" sz="950" dirty="0"/>
          </a:p>
        </p:txBody>
      </p:sp>
      <p:sp>
        <p:nvSpPr>
          <p:cNvPr id="14" name="Text 11"/>
          <p:cNvSpPr txBox="1"/>
          <p:nvPr/>
        </p:nvSpPr>
        <p:spPr>
          <a:xfrm>
            <a:off x="457200" y="4828032"/>
            <a:ext cx="8229600" cy="228600"/>
          </a:xfrm>
          <a:prstGeom prst="rect">
            <a:avLst/>
          </a:prstGeom>
          <a:noFill/>
          <a:ln/>
        </p:spPr>
        <p:txBody>
          <a:bodyPr wrap="square" lIns="0" tIns="0" rIns="0" bIns="0" rtlCol="0" anchor="ctr"/>
          <a:lstStyle/>
          <a:p>
            <a:pPr indent="0" marL="0">
              <a:buNone/>
            </a:pPr>
            <a:r>
              <a:rPr lang="en-US" sz="800" dirty="0">
                <a:solidFill>
                  <a:srgbClr val="5B6B6A"/>
                </a:solidFill>
                <a:latin typeface="Calibri" pitchFamily="34" charset="0"/>
                <a:ea typeface="Calibri" pitchFamily="34" charset="-122"/>
                <a:cs typeface="Calibri" pitchFamily="34" charset="-120"/>
              </a:rPr>
              <a:t>Agent fees: IEPF recovery consultants publish 5 to 15 percent. ₹38,700 average claim = ₹104 crore over 26,874 claims (All India Radio). AI cost is arithmetic on token counts at published Claude Opus 5 prices, shown in full at /proof and reproducible with npm run measure:cost.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F0EE"/>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07  ·  SCALABILITY</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Adding a bank is adding one file</a:t>
            </a:r>
            <a:endParaRPr lang="en-US" sz="2600" dirty="0"/>
          </a:p>
        </p:txBody>
      </p:sp>
      <p:sp>
        <p:nvSpPr>
          <p:cNvPr id="4" name="Shape 2"/>
          <p:cNvSpPr/>
          <p:nvPr/>
        </p:nvSpPr>
        <p:spPr>
          <a:xfrm>
            <a:off x="457200" y="2514600"/>
            <a:ext cx="1874520" cy="1828800"/>
          </a:xfrm>
          <a:prstGeom prst="roundRect">
            <a:avLst>
              <a:gd name="adj" fmla="val 4000"/>
            </a:avLst>
          </a:prstGeom>
          <a:solidFill>
            <a:srgbClr val="E6F0EE"/>
          </a:solidFill>
          <a:ln w="12700">
            <a:solidFill>
              <a:srgbClr val="FFFFFF"/>
            </a:solidFill>
            <a:prstDash val="solid"/>
          </a:ln>
        </p:spPr>
      </p:sp>
      <p:sp>
        <p:nvSpPr>
          <p:cNvPr id="5" name="Text 3"/>
          <p:cNvSpPr txBox="1"/>
          <p:nvPr/>
        </p:nvSpPr>
        <p:spPr>
          <a:xfrm>
            <a:off x="621792" y="2642616"/>
            <a:ext cx="1554480" cy="274320"/>
          </a:xfrm>
          <a:prstGeom prst="rect">
            <a:avLst/>
          </a:prstGeom>
          <a:noFill/>
          <a:ln/>
        </p:spPr>
        <p:txBody>
          <a:bodyPr wrap="square" lIns="0" tIns="0" rIns="0" bIns="0" rtlCol="0" anchor="t"/>
          <a:lstStyle/>
          <a:p>
            <a:pPr indent="0" marL="0">
              <a:buNone/>
            </a:pPr>
            <a:r>
              <a:rPr lang="en-US" sz="1050" b="1" spc="150" kern="0" dirty="0">
                <a:solidFill>
                  <a:srgbClr val="1F6F6B"/>
                </a:solidFill>
                <a:latin typeface="Calibri" pitchFamily="34" charset="0"/>
                <a:ea typeface="Calibri" pitchFamily="34" charset="-122"/>
                <a:cs typeface="Calibri" pitchFamily="34" charset="-120"/>
              </a:rPr>
              <a:t>START</a:t>
            </a:r>
            <a:endParaRPr lang="en-US" sz="1050" dirty="0"/>
          </a:p>
        </p:txBody>
      </p:sp>
      <p:sp>
        <p:nvSpPr>
          <p:cNvPr id="6" name="Text 4"/>
          <p:cNvSpPr txBox="1"/>
          <p:nvPr/>
        </p:nvSpPr>
        <p:spPr>
          <a:xfrm>
            <a:off x="621792" y="2898648"/>
            <a:ext cx="1600200" cy="365760"/>
          </a:xfrm>
          <a:prstGeom prst="rect">
            <a:avLst/>
          </a:prstGeom>
          <a:noFill/>
          <a:ln/>
        </p:spPr>
        <p:txBody>
          <a:bodyPr wrap="square" lIns="0" tIns="0" rIns="0" bIns="0" rtlCol="0" anchor="t"/>
          <a:lstStyle/>
          <a:p>
            <a:pPr indent="0" marL="0">
              <a:buNone/>
            </a:pPr>
            <a:r>
              <a:rPr lang="en-US" sz="1600" b="1" dirty="0">
                <a:solidFill>
                  <a:srgbClr val="1B2424"/>
                </a:solidFill>
                <a:latin typeface="Cambria" pitchFamily="34" charset="0"/>
                <a:ea typeface="Cambria" pitchFamily="34" charset="-122"/>
                <a:cs typeface="Cambria" pitchFamily="34" charset="-120"/>
              </a:rPr>
              <a:t>1 district</a:t>
            </a:r>
            <a:endParaRPr lang="en-US" sz="1600" dirty="0"/>
          </a:p>
        </p:txBody>
      </p:sp>
      <p:sp>
        <p:nvSpPr>
          <p:cNvPr id="7" name="Text 5"/>
          <p:cNvSpPr txBox="1"/>
          <p:nvPr/>
        </p:nvSpPr>
        <p:spPr>
          <a:xfrm>
            <a:off x="621792" y="3300984"/>
            <a:ext cx="1572768" cy="1005840"/>
          </a:xfrm>
          <a:prstGeom prst="rect">
            <a:avLst/>
          </a:prstGeom>
          <a:noFill/>
          <a:ln/>
        </p:spPr>
        <p:txBody>
          <a:bodyPr wrap="square" lIns="0" tIns="0" rIns="0" bIns="0" rtlCol="0" anchor="t"/>
          <a:lstStyle/>
          <a:p>
            <a:pPr indent="0" marL="0">
              <a:buNone/>
            </a:pPr>
            <a:r>
              <a:rPr lang="en-US" sz="1000" dirty="0">
                <a:solidFill>
                  <a:srgbClr val="1B2424"/>
                </a:solidFill>
                <a:latin typeface="Calibri" pitchFamily="34" charset="0"/>
                <a:ea typeface="Calibri" pitchFamily="34" charset="-122"/>
                <a:cs typeface="Calibri" pitchFamily="34" charset="-120"/>
              </a:rPr>
              <a:t>Service centres and one bank. Count the money returned every week.</a:t>
            </a:r>
            <a:endParaRPr lang="en-US" sz="1000" dirty="0"/>
          </a:p>
        </p:txBody>
      </p:sp>
      <p:sp>
        <p:nvSpPr>
          <p:cNvPr id="8" name="Shape 6"/>
          <p:cNvSpPr/>
          <p:nvPr/>
        </p:nvSpPr>
        <p:spPr>
          <a:xfrm>
            <a:off x="2560320" y="2240280"/>
            <a:ext cx="1874520" cy="2103120"/>
          </a:xfrm>
          <a:prstGeom prst="roundRect">
            <a:avLst>
              <a:gd name="adj" fmla="val 3902"/>
            </a:avLst>
          </a:prstGeom>
          <a:solidFill>
            <a:srgbClr val="C8DEDA"/>
          </a:solidFill>
          <a:ln w="12700">
            <a:solidFill>
              <a:srgbClr val="FFFFFF"/>
            </a:solidFill>
            <a:prstDash val="solid"/>
          </a:ln>
        </p:spPr>
      </p:sp>
      <p:sp>
        <p:nvSpPr>
          <p:cNvPr id="9" name="Text 7"/>
          <p:cNvSpPr txBox="1"/>
          <p:nvPr/>
        </p:nvSpPr>
        <p:spPr>
          <a:xfrm>
            <a:off x="2724912" y="2368296"/>
            <a:ext cx="1554480" cy="274320"/>
          </a:xfrm>
          <a:prstGeom prst="rect">
            <a:avLst/>
          </a:prstGeom>
          <a:noFill/>
          <a:ln/>
        </p:spPr>
        <p:txBody>
          <a:bodyPr wrap="square" lIns="0" tIns="0" rIns="0" bIns="0" rtlCol="0" anchor="t"/>
          <a:lstStyle/>
          <a:p>
            <a:pPr indent="0" marL="0">
              <a:buNone/>
            </a:pPr>
            <a:r>
              <a:rPr lang="en-US" sz="1050" b="1" spc="150" kern="0" dirty="0">
                <a:solidFill>
                  <a:srgbClr val="1F6F6B"/>
                </a:solidFill>
                <a:latin typeface="Calibri" pitchFamily="34" charset="0"/>
                <a:ea typeface="Calibri" pitchFamily="34" charset="-122"/>
                <a:cs typeface="Calibri" pitchFamily="34" charset="-120"/>
              </a:rPr>
              <a:t>STATE</a:t>
            </a:r>
            <a:endParaRPr lang="en-US" sz="1050" dirty="0"/>
          </a:p>
        </p:txBody>
      </p:sp>
      <p:sp>
        <p:nvSpPr>
          <p:cNvPr id="10" name="Text 8"/>
          <p:cNvSpPr txBox="1"/>
          <p:nvPr/>
        </p:nvSpPr>
        <p:spPr>
          <a:xfrm>
            <a:off x="2724912" y="2624328"/>
            <a:ext cx="1600200" cy="365760"/>
          </a:xfrm>
          <a:prstGeom prst="rect">
            <a:avLst/>
          </a:prstGeom>
          <a:noFill/>
          <a:ln/>
        </p:spPr>
        <p:txBody>
          <a:bodyPr wrap="square" lIns="0" tIns="0" rIns="0" bIns="0" rtlCol="0" anchor="t"/>
          <a:lstStyle/>
          <a:p>
            <a:pPr indent="0" marL="0">
              <a:buNone/>
            </a:pPr>
            <a:r>
              <a:rPr lang="en-US" sz="1600" b="1" dirty="0">
                <a:solidFill>
                  <a:srgbClr val="1B2424"/>
                </a:solidFill>
                <a:latin typeface="Cambria" pitchFamily="34" charset="0"/>
                <a:ea typeface="Cambria" pitchFamily="34" charset="-122"/>
                <a:cs typeface="Cambria" pitchFamily="34" charset="-120"/>
              </a:rPr>
              <a:t>All institutions</a:t>
            </a:r>
            <a:endParaRPr lang="en-US" sz="1600" dirty="0"/>
          </a:p>
        </p:txBody>
      </p:sp>
      <p:sp>
        <p:nvSpPr>
          <p:cNvPr id="11" name="Text 9"/>
          <p:cNvSpPr txBox="1"/>
          <p:nvPr/>
        </p:nvSpPr>
        <p:spPr>
          <a:xfrm>
            <a:off x="2724912" y="3026664"/>
            <a:ext cx="1572768" cy="1005840"/>
          </a:xfrm>
          <a:prstGeom prst="rect">
            <a:avLst/>
          </a:prstGeom>
          <a:noFill/>
          <a:ln/>
        </p:spPr>
        <p:txBody>
          <a:bodyPr wrap="square" lIns="0" tIns="0" rIns="0" bIns="0" rtlCol="0" anchor="t"/>
          <a:lstStyle/>
          <a:p>
            <a:pPr indent="0" marL="0">
              <a:buNone/>
            </a:pPr>
            <a:r>
              <a:rPr lang="en-US" sz="1000" dirty="0">
                <a:solidFill>
                  <a:srgbClr val="1B2424"/>
                </a:solidFill>
                <a:latin typeface="Calibri" pitchFamily="34" charset="0"/>
                <a:ea typeface="Calibri" pitchFamily="34" charset="-122"/>
                <a:cs typeface="Calibri" pitchFamily="34" charset="-120"/>
              </a:rPr>
              <a:t>A rule file per bank, insurer and fund house.</a:t>
            </a:r>
            <a:endParaRPr lang="en-US" sz="1000" dirty="0"/>
          </a:p>
        </p:txBody>
      </p:sp>
      <p:sp>
        <p:nvSpPr>
          <p:cNvPr id="12" name="Shape 10"/>
          <p:cNvSpPr/>
          <p:nvPr/>
        </p:nvSpPr>
        <p:spPr>
          <a:xfrm>
            <a:off x="4663440" y="1965960"/>
            <a:ext cx="1874520" cy="2377440"/>
          </a:xfrm>
          <a:prstGeom prst="roundRect">
            <a:avLst>
              <a:gd name="adj" fmla="val 3902"/>
            </a:avLst>
          </a:prstGeom>
          <a:solidFill>
            <a:srgbClr val="1F6F6B"/>
          </a:solidFill>
          <a:ln w="12700">
            <a:solidFill>
              <a:srgbClr val="FFFFFF"/>
            </a:solidFill>
            <a:prstDash val="solid"/>
          </a:ln>
        </p:spPr>
      </p:sp>
      <p:sp>
        <p:nvSpPr>
          <p:cNvPr id="13" name="Text 11"/>
          <p:cNvSpPr txBox="1"/>
          <p:nvPr/>
        </p:nvSpPr>
        <p:spPr>
          <a:xfrm>
            <a:off x="4828032" y="2093976"/>
            <a:ext cx="1554480" cy="274320"/>
          </a:xfrm>
          <a:prstGeom prst="rect">
            <a:avLst/>
          </a:prstGeom>
          <a:noFill/>
          <a:ln/>
        </p:spPr>
        <p:txBody>
          <a:bodyPr wrap="square" lIns="0" tIns="0" rIns="0" bIns="0" rtlCol="0" anchor="t"/>
          <a:lstStyle/>
          <a:p>
            <a:pPr indent="0" marL="0">
              <a:buNone/>
            </a:pPr>
            <a:r>
              <a:rPr lang="en-US" sz="1050" b="1" spc="150" kern="0" dirty="0">
                <a:solidFill>
                  <a:srgbClr val="E3A33B"/>
                </a:solidFill>
                <a:latin typeface="Calibri" pitchFamily="34" charset="0"/>
                <a:ea typeface="Calibri" pitchFamily="34" charset="-122"/>
                <a:cs typeface="Calibri" pitchFamily="34" charset="-120"/>
              </a:rPr>
              <a:t>INDIA</a:t>
            </a:r>
            <a:endParaRPr lang="en-US" sz="1050" dirty="0"/>
          </a:p>
        </p:txBody>
      </p:sp>
      <p:sp>
        <p:nvSpPr>
          <p:cNvPr id="14" name="Text 12"/>
          <p:cNvSpPr txBox="1"/>
          <p:nvPr/>
        </p:nvSpPr>
        <p:spPr>
          <a:xfrm>
            <a:off x="4828032" y="2350008"/>
            <a:ext cx="16002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22 languages</a:t>
            </a:r>
            <a:endParaRPr lang="en-US" sz="1600" dirty="0"/>
          </a:p>
        </p:txBody>
      </p:sp>
      <p:sp>
        <p:nvSpPr>
          <p:cNvPr id="15" name="Text 13"/>
          <p:cNvSpPr txBox="1"/>
          <p:nvPr/>
        </p:nvSpPr>
        <p:spPr>
          <a:xfrm>
            <a:off x="4828032" y="2752344"/>
            <a:ext cx="1572768" cy="100584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DigiLocker and Account Aggregator. Join the RBI and IRDAI campaigns.</a:t>
            </a:r>
            <a:endParaRPr lang="en-US" sz="1000" dirty="0"/>
          </a:p>
        </p:txBody>
      </p:sp>
      <p:sp>
        <p:nvSpPr>
          <p:cNvPr id="16" name="Shape 14"/>
          <p:cNvSpPr/>
          <p:nvPr/>
        </p:nvSpPr>
        <p:spPr>
          <a:xfrm>
            <a:off x="6766560" y="1691640"/>
            <a:ext cx="1874520" cy="2651760"/>
          </a:xfrm>
          <a:prstGeom prst="roundRect">
            <a:avLst>
              <a:gd name="adj" fmla="val 3902"/>
            </a:avLst>
          </a:prstGeom>
          <a:solidFill>
            <a:srgbClr val="E3A33B"/>
          </a:solidFill>
          <a:ln w="12700">
            <a:solidFill>
              <a:srgbClr val="FFFFFF"/>
            </a:solidFill>
            <a:prstDash val="solid"/>
          </a:ln>
        </p:spPr>
      </p:sp>
      <p:sp>
        <p:nvSpPr>
          <p:cNvPr id="17" name="Text 15"/>
          <p:cNvSpPr txBox="1"/>
          <p:nvPr/>
        </p:nvSpPr>
        <p:spPr>
          <a:xfrm>
            <a:off x="6931152" y="1819656"/>
            <a:ext cx="1554480" cy="274320"/>
          </a:xfrm>
          <a:prstGeom prst="rect">
            <a:avLst/>
          </a:prstGeom>
          <a:noFill/>
          <a:ln/>
        </p:spPr>
        <p:txBody>
          <a:bodyPr wrap="square" lIns="0" tIns="0" rIns="0" bIns="0" rtlCol="0" anchor="t"/>
          <a:lstStyle/>
          <a:p>
            <a:pPr indent="0" marL="0">
              <a:buNone/>
            </a:pPr>
            <a:r>
              <a:rPr lang="en-US" sz="1050" b="1" spc="150" kern="0" dirty="0">
                <a:solidFill>
                  <a:srgbClr val="1B2424"/>
                </a:solidFill>
                <a:latin typeface="Calibri" pitchFamily="34" charset="0"/>
                <a:ea typeface="Calibri" pitchFamily="34" charset="-122"/>
                <a:cs typeface="Calibri" pitchFamily="34" charset="-120"/>
              </a:rPr>
              <a:t>WORLD</a:t>
            </a:r>
            <a:endParaRPr lang="en-US" sz="1050" dirty="0"/>
          </a:p>
        </p:txBody>
      </p:sp>
      <p:sp>
        <p:nvSpPr>
          <p:cNvPr id="18" name="Text 16"/>
          <p:cNvSpPr txBox="1"/>
          <p:nvPr/>
        </p:nvSpPr>
        <p:spPr>
          <a:xfrm>
            <a:off x="6931152" y="2075688"/>
            <a:ext cx="1600200" cy="365760"/>
          </a:xfrm>
          <a:prstGeom prst="rect">
            <a:avLst/>
          </a:prstGeom>
          <a:noFill/>
          <a:ln/>
        </p:spPr>
        <p:txBody>
          <a:bodyPr wrap="square" lIns="0" tIns="0" rIns="0" bIns="0" rtlCol="0" anchor="t"/>
          <a:lstStyle/>
          <a:p>
            <a:pPr indent="0" marL="0">
              <a:buNone/>
            </a:pPr>
            <a:r>
              <a:rPr lang="en-US" sz="1600" b="1" dirty="0">
                <a:solidFill>
                  <a:srgbClr val="1B2424"/>
                </a:solidFill>
                <a:latin typeface="Cambria" pitchFamily="34" charset="0"/>
                <a:ea typeface="Cambria" pitchFamily="34" charset="-122"/>
                <a:cs typeface="Cambria" pitchFamily="34" charset="-120"/>
              </a:rPr>
              <a:t>Beyond India</a:t>
            </a:r>
            <a:endParaRPr lang="en-US" sz="1600" dirty="0"/>
          </a:p>
        </p:txBody>
      </p:sp>
      <p:sp>
        <p:nvSpPr>
          <p:cNvPr id="19" name="Text 17"/>
          <p:cNvSpPr txBox="1"/>
          <p:nvPr/>
        </p:nvSpPr>
        <p:spPr>
          <a:xfrm>
            <a:off x="6931152" y="2478024"/>
            <a:ext cx="1572768" cy="1005840"/>
          </a:xfrm>
          <a:prstGeom prst="rect">
            <a:avLst/>
          </a:prstGeom>
          <a:noFill/>
          <a:ln/>
        </p:spPr>
        <p:txBody>
          <a:bodyPr wrap="square" lIns="0" tIns="0" rIns="0" bIns="0" rtlCol="0" anchor="t"/>
          <a:lstStyle/>
          <a:p>
            <a:pPr indent="0" marL="0">
              <a:buNone/>
            </a:pPr>
            <a:r>
              <a:rPr lang="en-US" sz="1000" dirty="0">
                <a:solidFill>
                  <a:srgbClr val="1B2424"/>
                </a:solidFill>
                <a:latin typeface="Calibri" pitchFamily="34" charset="0"/>
                <a:ea typeface="Calibri" pitchFamily="34" charset="-122"/>
                <a:cs typeface="Calibri" pitchFamily="34" charset="-120"/>
              </a:rPr>
              <a:t>NRI families, and countries with similar unclaimed money programmes.</a:t>
            </a:r>
            <a:endParaRPr lang="en-US" sz="1000" dirty="0"/>
          </a:p>
        </p:txBody>
      </p:sp>
      <p:sp>
        <p:nvSpPr>
          <p:cNvPr id="20" name="Text 18"/>
          <p:cNvSpPr txBox="1"/>
          <p:nvPr/>
        </p:nvSpPr>
        <p:spPr>
          <a:xfrm>
            <a:off x="457200" y="1298448"/>
            <a:ext cx="8229600" cy="548640"/>
          </a:xfrm>
          <a:prstGeom prst="rect">
            <a:avLst/>
          </a:prstGeom>
          <a:noFill/>
          <a:ln/>
        </p:spPr>
        <p:txBody>
          <a:bodyPr wrap="square" lIns="0" tIns="0" rIns="0" bIns="0" rtlCol="0" anchor="t"/>
          <a:lstStyle/>
          <a:p>
            <a:pPr indent="0" marL="0">
              <a:buNone/>
            </a:pPr>
            <a:r>
              <a:rPr lang="en-US" sz="1200" i="1" dirty="0">
                <a:solidFill>
                  <a:srgbClr val="5B6B6A"/>
                </a:solidFill>
                <a:latin typeface="Calibri" pitchFamily="34" charset="0"/>
                <a:ea typeface="Calibri" pitchFamily="34" charset="-122"/>
                <a:cs typeface="Calibri" pitchFamily="34" charset="-120"/>
              </a:rPr>
              <a:t>How it earns: free for families. Banks and insurers pay, because regulators push them to clear unclaimed balances. Service centres charge a small fixed fee instead of an agent's percentage.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07  ·  FEASIBILITY: THE ARITHMETIC, IN PUBLIC</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400" b="1" dirty="0">
                <a:solidFill>
                  <a:srgbClr val="1B2424"/>
                </a:solidFill>
                <a:latin typeface="Cambria" pitchFamily="34" charset="0"/>
                <a:ea typeface="Cambria" pitchFamily="34" charset="-122"/>
                <a:cs typeface="Cambria" pitchFamily="34" charset="-120"/>
              </a:rPr>
              <a:t>₹36 a family, open rules, and every number checkable</a:t>
            </a:r>
            <a:endParaRPr lang="en-US" sz="2400" dirty="0"/>
          </a:p>
        </p:txBody>
      </p:sp>
      <p:sp>
        <p:nvSpPr>
          <p:cNvPr id="4" name="Shape 2"/>
          <p:cNvSpPr/>
          <p:nvPr/>
        </p:nvSpPr>
        <p:spPr>
          <a:xfrm>
            <a:off x="457200" y="1371600"/>
            <a:ext cx="4023360" cy="2926080"/>
          </a:xfrm>
          <a:prstGeom prst="roundRect">
            <a:avLst>
              <a:gd name="adj" fmla="val 2500"/>
            </a:avLst>
          </a:prstGeom>
          <a:solidFill>
            <a:srgbClr val="F2F8F6"/>
          </a:solidFill>
          <a:ln w="9525">
            <a:solidFill>
              <a:srgbClr val="F2F8F6"/>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85800" y="1536192"/>
            <a:ext cx="3657600" cy="27432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What one family costs</a:t>
            </a:r>
            <a:endParaRPr lang="en-US" sz="1200" dirty="0"/>
          </a:p>
        </p:txBody>
      </p:sp>
      <p:sp>
        <p:nvSpPr>
          <p:cNvPr id="6" name="Text 4"/>
          <p:cNvSpPr txBox="1"/>
          <p:nvPr/>
        </p:nvSpPr>
        <p:spPr>
          <a:xfrm>
            <a:off x="685800" y="1874520"/>
            <a:ext cx="2743200" cy="365760"/>
          </a:xfrm>
          <a:prstGeom prst="rect">
            <a:avLst/>
          </a:prstGeom>
          <a:noFill/>
          <a:ln/>
        </p:spPr>
        <p:txBody>
          <a:bodyPr wrap="square" lIns="0" tIns="0" rIns="0" bIns="0" rtlCol="0" anchor="t"/>
          <a:lstStyle/>
          <a:p>
            <a:pPr indent="0" marL="0">
              <a:buNone/>
            </a:pPr>
            <a:r>
              <a:rPr lang="en-US" sz="1000" dirty="0">
                <a:solidFill>
                  <a:srgbClr val="1B2424"/>
                </a:solidFill>
                <a:latin typeface="Calibri" pitchFamily="34" charset="0"/>
                <a:ea typeface="Calibri" pitchFamily="34" charset="-122"/>
                <a:cs typeface="Calibri" pitchFamily="34" charset="-120"/>
              </a:rPr>
              <a:t>Reading 3 photographed papers</a:t>
            </a:r>
            <a:endParaRPr lang="en-US" sz="1000" dirty="0"/>
          </a:p>
        </p:txBody>
      </p:sp>
      <p:sp>
        <p:nvSpPr>
          <p:cNvPr id="7" name="Text 5"/>
          <p:cNvSpPr txBox="1"/>
          <p:nvPr/>
        </p:nvSpPr>
        <p:spPr>
          <a:xfrm>
            <a:off x="3474720" y="1874520"/>
            <a:ext cx="868680" cy="365760"/>
          </a:xfrm>
          <a:prstGeom prst="rect">
            <a:avLst/>
          </a:prstGeom>
          <a:noFill/>
          <a:ln/>
        </p:spPr>
        <p:txBody>
          <a:bodyPr wrap="square" lIns="0" tIns="0" rIns="0" bIns="0" rtlCol="0" anchor="t"/>
          <a:lstStyle/>
          <a:p>
            <a:pPr algn="r" indent="0" marL="0">
              <a:buNone/>
            </a:pPr>
            <a:r>
              <a:rPr lang="en-US" sz="1050" b="1" dirty="0">
                <a:solidFill>
                  <a:srgbClr val="1B2424"/>
                </a:solidFill>
                <a:latin typeface="Calibri" pitchFamily="34" charset="0"/>
                <a:ea typeface="Calibri" pitchFamily="34" charset="-122"/>
                <a:cs typeface="Calibri" pitchFamily="34" charset="-120"/>
              </a:rPr>
              <a:t>₹5.17</a:t>
            </a:r>
            <a:endParaRPr lang="en-US" sz="1050" dirty="0"/>
          </a:p>
        </p:txBody>
      </p:sp>
      <p:sp>
        <p:nvSpPr>
          <p:cNvPr id="8" name="Text 6"/>
          <p:cNvSpPr txBox="1"/>
          <p:nvPr/>
        </p:nvSpPr>
        <p:spPr>
          <a:xfrm>
            <a:off x="685800" y="2331720"/>
            <a:ext cx="2743200" cy="365760"/>
          </a:xfrm>
          <a:prstGeom prst="rect">
            <a:avLst/>
          </a:prstGeom>
          <a:noFill/>
          <a:ln/>
        </p:spPr>
        <p:txBody>
          <a:bodyPr wrap="square" lIns="0" tIns="0" rIns="0" bIns="0" rtlCol="0" anchor="t"/>
          <a:lstStyle/>
          <a:p>
            <a:pPr indent="0" marL="0">
              <a:buNone/>
            </a:pPr>
            <a:r>
              <a:rPr lang="en-US" sz="1000" dirty="0">
                <a:solidFill>
                  <a:srgbClr val="1B2424"/>
                </a:solidFill>
                <a:latin typeface="Calibri" pitchFamily="34" charset="0"/>
                <a:ea typeface="Calibri" pitchFamily="34" charset="-122"/>
                <a:cs typeface="Calibri" pitchFamily="34" charset="-120"/>
              </a:rPr>
              <a:t>The AI Review, 3 claim routes</a:t>
            </a:r>
            <a:endParaRPr lang="en-US" sz="1000" dirty="0"/>
          </a:p>
        </p:txBody>
      </p:sp>
      <p:sp>
        <p:nvSpPr>
          <p:cNvPr id="9" name="Text 7"/>
          <p:cNvSpPr txBox="1"/>
          <p:nvPr/>
        </p:nvSpPr>
        <p:spPr>
          <a:xfrm>
            <a:off x="3474720" y="2331720"/>
            <a:ext cx="868680" cy="365760"/>
          </a:xfrm>
          <a:prstGeom prst="rect">
            <a:avLst/>
          </a:prstGeom>
          <a:noFill/>
          <a:ln/>
        </p:spPr>
        <p:txBody>
          <a:bodyPr wrap="square" lIns="0" tIns="0" rIns="0" bIns="0" rtlCol="0" anchor="t"/>
          <a:lstStyle/>
          <a:p>
            <a:pPr algn="r" indent="0" marL="0">
              <a:buNone/>
            </a:pPr>
            <a:r>
              <a:rPr lang="en-US" sz="1050" b="1" dirty="0">
                <a:solidFill>
                  <a:srgbClr val="1B2424"/>
                </a:solidFill>
                <a:latin typeface="Calibri" pitchFamily="34" charset="0"/>
                <a:ea typeface="Calibri" pitchFamily="34" charset="-122"/>
                <a:cs typeface="Calibri" pitchFamily="34" charset="-120"/>
              </a:rPr>
              <a:t>₹14.82</a:t>
            </a:r>
            <a:endParaRPr lang="en-US" sz="1050" dirty="0"/>
          </a:p>
        </p:txBody>
      </p:sp>
      <p:sp>
        <p:nvSpPr>
          <p:cNvPr id="10" name="Text 8"/>
          <p:cNvSpPr txBox="1"/>
          <p:nvPr/>
        </p:nvSpPr>
        <p:spPr>
          <a:xfrm>
            <a:off x="685800" y="2788920"/>
            <a:ext cx="2743200" cy="365760"/>
          </a:xfrm>
          <a:prstGeom prst="rect">
            <a:avLst/>
          </a:prstGeom>
          <a:noFill/>
          <a:ln/>
        </p:spPr>
        <p:txBody>
          <a:bodyPr wrap="square" lIns="0" tIns="0" rIns="0" bIns="0" rtlCol="0" anchor="t"/>
          <a:lstStyle/>
          <a:p>
            <a:pPr indent="0" marL="0">
              <a:buNone/>
            </a:pPr>
            <a:r>
              <a:rPr lang="en-US" sz="1000" dirty="0">
                <a:solidFill>
                  <a:srgbClr val="1B2424"/>
                </a:solidFill>
                <a:latin typeface="Calibri" pitchFamily="34" charset="0"/>
                <a:ea typeface="Calibri" pitchFamily="34" charset="-122"/>
                <a:cs typeface="Calibri" pitchFamily="34" charset="-120"/>
              </a:rPr>
              <a:t>Tax statement, rules, claim packs</a:t>
            </a:r>
            <a:endParaRPr lang="en-US" sz="1000" dirty="0"/>
          </a:p>
        </p:txBody>
      </p:sp>
      <p:sp>
        <p:nvSpPr>
          <p:cNvPr id="11" name="Text 9"/>
          <p:cNvSpPr txBox="1"/>
          <p:nvPr/>
        </p:nvSpPr>
        <p:spPr>
          <a:xfrm>
            <a:off x="3474720" y="2788920"/>
            <a:ext cx="868680" cy="365760"/>
          </a:xfrm>
          <a:prstGeom prst="rect">
            <a:avLst/>
          </a:prstGeom>
          <a:noFill/>
          <a:ln/>
        </p:spPr>
        <p:txBody>
          <a:bodyPr wrap="square" lIns="0" tIns="0" rIns="0" bIns="0" rtlCol="0" anchor="t"/>
          <a:lstStyle/>
          <a:p>
            <a:pPr algn="r" indent="0" marL="0">
              <a:buNone/>
            </a:pPr>
            <a:r>
              <a:rPr lang="en-US" sz="1050" b="1" dirty="0">
                <a:solidFill>
                  <a:srgbClr val="1E7F4F"/>
                </a:solidFill>
                <a:latin typeface="Calibri" pitchFamily="34" charset="0"/>
                <a:ea typeface="Calibri" pitchFamily="34" charset="-122"/>
                <a:cs typeface="Calibri" pitchFamily="34" charset="-120"/>
              </a:rPr>
              <a:t>free</a:t>
            </a:r>
            <a:endParaRPr lang="en-US" sz="1050" dirty="0"/>
          </a:p>
        </p:txBody>
      </p:sp>
      <p:sp>
        <p:nvSpPr>
          <p:cNvPr id="12" name="Text 10"/>
          <p:cNvSpPr txBox="1"/>
          <p:nvPr/>
        </p:nvSpPr>
        <p:spPr>
          <a:xfrm>
            <a:off x="685800" y="3246120"/>
            <a:ext cx="2743200" cy="365760"/>
          </a:xfrm>
          <a:prstGeom prst="rect">
            <a:avLst/>
          </a:prstGeom>
          <a:noFill/>
          <a:ln/>
        </p:spPr>
        <p:txBody>
          <a:bodyPr wrap="square" lIns="0" tIns="0" rIns="0" bIns="0" rtlCol="0" anchor="t"/>
          <a:lstStyle/>
          <a:p>
            <a:pPr indent="0" marL="0">
              <a:buNone/>
            </a:pPr>
            <a:r>
              <a:rPr lang="en-US" sz="1100" b="1" dirty="0">
                <a:solidFill>
                  <a:srgbClr val="0F3D3E"/>
                </a:solidFill>
                <a:latin typeface="Calibri" pitchFamily="34" charset="0"/>
                <a:ea typeface="Calibri" pitchFamily="34" charset="-122"/>
                <a:cs typeface="Calibri" pitchFamily="34" charset="-120"/>
              </a:rPr>
              <a:t>One family, end to end</a:t>
            </a:r>
            <a:endParaRPr lang="en-US" sz="1100" dirty="0"/>
          </a:p>
        </p:txBody>
      </p:sp>
      <p:sp>
        <p:nvSpPr>
          <p:cNvPr id="13" name="Text 11"/>
          <p:cNvSpPr txBox="1"/>
          <p:nvPr/>
        </p:nvSpPr>
        <p:spPr>
          <a:xfrm>
            <a:off x="3474720" y="3246120"/>
            <a:ext cx="868680" cy="365760"/>
          </a:xfrm>
          <a:prstGeom prst="rect">
            <a:avLst/>
          </a:prstGeom>
          <a:noFill/>
          <a:ln/>
        </p:spPr>
        <p:txBody>
          <a:bodyPr wrap="square" lIns="0" tIns="0" rIns="0" bIns="0" rtlCol="0" anchor="t"/>
          <a:lstStyle/>
          <a:p>
            <a:pPr algn="r" indent="0" marL="0">
              <a:buNone/>
            </a:pPr>
            <a:r>
              <a:rPr lang="en-US" sz="1300" b="1" dirty="0">
                <a:solidFill>
                  <a:srgbClr val="0F3D3E"/>
                </a:solidFill>
                <a:latin typeface="Calibri" pitchFamily="34" charset="0"/>
                <a:ea typeface="Calibri" pitchFamily="34" charset="-122"/>
                <a:cs typeface="Calibri" pitchFamily="34" charset="-120"/>
              </a:rPr>
              <a:t>₹19.99</a:t>
            </a:r>
            <a:endParaRPr lang="en-US" sz="1300" dirty="0"/>
          </a:p>
        </p:txBody>
      </p:sp>
      <p:sp>
        <p:nvSpPr>
          <p:cNvPr id="14" name="Text 12"/>
          <p:cNvSpPr txBox="1"/>
          <p:nvPr/>
        </p:nvSpPr>
        <p:spPr>
          <a:xfrm>
            <a:off x="685800" y="3675888"/>
            <a:ext cx="3657600" cy="548640"/>
          </a:xfrm>
          <a:prstGeom prst="rect">
            <a:avLst/>
          </a:prstGeom>
          <a:noFill/>
          <a:ln/>
        </p:spPr>
        <p:txBody>
          <a:bodyPr wrap="square" lIns="0" tIns="0" rIns="0" bIns="0" rtlCol="0" anchor="t"/>
          <a:lstStyle/>
          <a:p>
            <a:pPr indent="0" marL="0">
              <a:buNone/>
            </a:pPr>
            <a:r>
              <a:rPr lang="en-US" sz="900" i="1" dirty="0">
                <a:solidFill>
                  <a:srgbClr val="5B6B6A"/>
                </a:solidFill>
                <a:latin typeface="Calibri" pitchFamily="34" charset="0"/>
                <a:ea typeface="Calibri" pitchFamily="34" charset="-122"/>
                <a:cs typeface="Calibri" pitchFamily="34" charset="-120"/>
              </a:rPr>
              <a:t>Most of the journey costs nothing per family, because most of it runs in ordinary code. The AI is used only to read a photograph and to argue about a route.</a:t>
            </a:r>
            <a:endParaRPr lang="en-US" sz="900" dirty="0"/>
          </a:p>
        </p:txBody>
      </p:sp>
      <p:sp>
        <p:nvSpPr>
          <p:cNvPr id="15" name="Shape 13"/>
          <p:cNvSpPr/>
          <p:nvPr/>
        </p:nvSpPr>
        <p:spPr>
          <a:xfrm>
            <a:off x="4754880" y="1371600"/>
            <a:ext cx="3931920" cy="1325880"/>
          </a:xfrm>
          <a:prstGeom prst="roundRect">
            <a:avLst>
              <a:gd name="adj" fmla="val 5517"/>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4983480" y="1517904"/>
            <a:ext cx="3520440" cy="274320"/>
          </a:xfrm>
          <a:prstGeom prst="rect">
            <a:avLst/>
          </a:prstGeom>
          <a:noFill/>
          <a:ln/>
        </p:spPr>
        <p:txBody>
          <a:bodyPr wrap="square" lIns="0" tIns="0" rIns="0" bIns="0" rtlCol="0" anchor="t"/>
          <a:lstStyle/>
          <a:p>
            <a:pPr indent="0" marL="0">
              <a:buNone/>
            </a:pPr>
            <a:r>
              <a:rPr lang="en-US" sz="1300" b="1" dirty="0">
                <a:solidFill>
                  <a:srgbClr val="0F3D3E"/>
                </a:solidFill>
                <a:latin typeface="Calibri" pitchFamily="34" charset="0"/>
                <a:ea typeface="Calibri" pitchFamily="34" charset="-122"/>
                <a:cs typeface="Calibri" pitchFamily="34" charset="-120"/>
              </a:rPr>
              <a:t>The rules are open</a:t>
            </a:r>
            <a:endParaRPr lang="en-US" sz="1300" dirty="0"/>
          </a:p>
        </p:txBody>
      </p:sp>
      <p:sp>
        <p:nvSpPr>
          <p:cNvPr id="17" name="Text 15"/>
          <p:cNvSpPr txBox="1"/>
          <p:nvPr/>
        </p:nvSpPr>
        <p:spPr>
          <a:xfrm>
            <a:off x="4983480" y="1828800"/>
            <a:ext cx="3520440" cy="77724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The claim procedure of each institution, as machine readable data. Served with no key, MIT licensed, at /api/v1/rules/corpus. If a bank or a government portal takes it, that is the point. We would rather be the standard than the site.</a:t>
            </a:r>
            <a:endParaRPr lang="en-US" sz="950" dirty="0"/>
          </a:p>
        </p:txBody>
      </p:sp>
      <p:sp>
        <p:nvSpPr>
          <p:cNvPr id="18" name="Shape 16"/>
          <p:cNvSpPr/>
          <p:nvPr/>
        </p:nvSpPr>
        <p:spPr>
          <a:xfrm>
            <a:off x="4754880" y="2880360"/>
            <a:ext cx="3931920" cy="1325880"/>
          </a:xfrm>
          <a:prstGeom prst="roundRect">
            <a:avLst>
              <a:gd name="adj" fmla="val 5517"/>
            </a:avLst>
          </a:prstGeom>
          <a:solidFill>
            <a:srgbClr val="FFFFFF"/>
          </a:solidFill>
          <a:ln w="9525">
            <a:solidFill>
              <a:srgbClr val="D5E2DF"/>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4983480" y="3026664"/>
            <a:ext cx="3520440" cy="274320"/>
          </a:xfrm>
          <a:prstGeom prst="rect">
            <a:avLst/>
          </a:prstGeom>
          <a:noFill/>
          <a:ln/>
        </p:spPr>
        <p:txBody>
          <a:bodyPr wrap="square" lIns="0" tIns="0" rIns="0" bIns="0" rtlCol="0" anchor="t"/>
          <a:lstStyle/>
          <a:p>
            <a:pPr indent="0" marL="0">
              <a:buNone/>
            </a:pPr>
            <a:r>
              <a:rPr lang="en-US" sz="1300" b="1" dirty="0">
                <a:solidFill>
                  <a:srgbClr val="0F3D3E"/>
                </a:solidFill>
                <a:latin typeface="Calibri" pitchFamily="34" charset="0"/>
                <a:ea typeface="Calibri" pitchFamily="34" charset="-122"/>
                <a:cs typeface="Calibri" pitchFamily="34" charset="-120"/>
              </a:rPr>
              <a:t>Every number is checkable</a:t>
            </a:r>
            <a:endParaRPr lang="en-US" sz="1300" dirty="0"/>
          </a:p>
        </p:txBody>
      </p:sp>
      <p:sp>
        <p:nvSpPr>
          <p:cNvPr id="20" name="Text 18"/>
          <p:cNvSpPr txBox="1"/>
          <p:nvPr/>
        </p:nvSpPr>
        <p:spPr>
          <a:xfrm>
            <a:off x="4983480" y="3337560"/>
            <a:ext cx="3520440" cy="777240"/>
          </a:xfrm>
          <a:prstGeom prst="rect">
            <a:avLst/>
          </a:prstGeom>
          <a:noFill/>
          <a:ln/>
        </p:spPr>
        <p:txBody>
          <a:bodyPr wrap="square" lIns="0" tIns="0" rIns="0" bIns="0" rtlCol="0" anchor="t"/>
          <a:lstStyle/>
          <a:p>
            <a:pPr indent="0" marL="0">
              <a:buNone/>
            </a:pPr>
            <a:r>
              <a:rPr lang="en-US" sz="950" dirty="0">
                <a:solidFill>
                  <a:srgbClr val="1B2424"/>
                </a:solidFill>
                <a:latin typeface="Calibri" pitchFamily="34" charset="0"/>
                <a:ea typeface="Calibri" pitchFamily="34" charset="-122"/>
                <a:cs typeface="Calibri" pitchFamily="34" charset="-120"/>
              </a:rPr>
              <a:t>One command, npm run audit, re-runs accessibility on every page in both themes, Lighthouse three times on two profiles, the tests and the build, then writes the report including whatever failed.</a:t>
            </a:r>
            <a:endParaRPr lang="en-US" sz="950" dirty="0"/>
          </a:p>
        </p:txBody>
      </p:sp>
      <p:sp>
        <p:nvSpPr>
          <p:cNvPr id="21" name="Text 19"/>
          <p:cNvSpPr txBox="1"/>
          <p:nvPr/>
        </p:nvSpPr>
        <p:spPr>
          <a:xfrm>
            <a:off x="4754880" y="4434840"/>
            <a:ext cx="3931920" cy="365760"/>
          </a:xfrm>
          <a:prstGeom prst="rect">
            <a:avLst/>
          </a:prstGeom>
          <a:noFill/>
          <a:ln/>
        </p:spPr>
        <p:txBody>
          <a:bodyPr wrap="square" lIns="0" tIns="0" rIns="0" bIns="0" rtlCol="0" anchor="t"/>
          <a:lstStyle/>
          <a:p>
            <a:pPr indent="0" marL="0">
              <a:buNone/>
            </a:pPr>
            <a:r>
              <a:rPr lang="en-US" sz="900" i="1" dirty="0">
                <a:solidFill>
                  <a:srgbClr val="5B6B6A"/>
                </a:solidFill>
                <a:latin typeface="Calibri" pitchFamily="34" charset="0"/>
                <a:ea typeface="Calibri" pitchFamily="34" charset="-122"/>
                <a:cs typeface="Calibri" pitchFamily="34" charset="-120"/>
              </a:rPr>
              <a:t>It goes down, not up, with scale: overnight work moves to the Batch API at half price, and a clear printed passbook does not need the largest model. About ₹4 a family at the lowest setting.</a:t>
            </a:r>
            <a:endParaRPr lang="en-US" sz="900" dirty="0"/>
          </a:p>
        </p:txBody>
      </p:sp>
      <p:sp>
        <p:nvSpPr>
          <p:cNvPr id="22" name="Text 20"/>
          <p:cNvSpPr txBox="1"/>
          <p:nvPr/>
        </p:nvSpPr>
        <p:spPr>
          <a:xfrm>
            <a:off x="457200" y="4828032"/>
            <a:ext cx="8229600" cy="228600"/>
          </a:xfrm>
          <a:prstGeom prst="rect">
            <a:avLst/>
          </a:prstGeom>
          <a:noFill/>
          <a:ln/>
        </p:spPr>
        <p:txBody>
          <a:bodyPr wrap="square" lIns="0" tIns="0" rIns="0" bIns="0" rtlCol="0" anchor="ctr"/>
          <a:lstStyle/>
          <a:p>
            <a:pPr indent="0" marL="0">
              <a:buNone/>
            </a:pPr>
            <a:r>
              <a:rPr lang="en-US" sz="800" dirty="0">
                <a:solidFill>
                  <a:srgbClr val="5B6B6A"/>
                </a:solidFill>
                <a:latin typeface="Calibri" pitchFamily="34" charset="0"/>
                <a:ea typeface="Calibri" pitchFamily="34" charset="-122"/>
                <a:cs typeface="Calibri" pitchFamily="34" charset="-120"/>
              </a:rPr>
              <a:t>Published Anthropic prices, checked 21 Sep 2026, converted at 88 rupees to the dollar. Average of ₹38,700 returned per family: Gujarat camps, All India Radio.</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EVALUATION CRITERIA, MAPPED</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400" b="1" dirty="0">
                <a:solidFill>
                  <a:srgbClr val="1B2424"/>
                </a:solidFill>
                <a:latin typeface="Cambria" pitchFamily="34" charset="0"/>
                <a:ea typeface="Cambria" pitchFamily="34" charset="-122"/>
                <a:cs typeface="Cambria" pitchFamily="34" charset="-120"/>
              </a:rPr>
              <a:t>Every criterion mapped to proof you can open</a:t>
            </a:r>
            <a:endParaRPr lang="en-US" sz="2400" dirty="0"/>
          </a:p>
        </p:txBody>
      </p:sp>
      <p:sp>
        <p:nvSpPr>
          <p:cNvPr id="4" name="Shape 2"/>
          <p:cNvSpPr/>
          <p:nvPr/>
        </p:nvSpPr>
        <p:spPr>
          <a:xfrm>
            <a:off x="420624" y="1289304"/>
            <a:ext cx="4828032" cy="3044952"/>
          </a:xfrm>
          <a:prstGeom prst="roundRect">
            <a:avLst>
              <a:gd name="adj" fmla="val 1802"/>
            </a:avLst>
          </a:prstGeom>
          <a:solidFill>
            <a:srgbClr val="EDF2F1"/>
          </a:solidFill>
          <a:ln w="9525">
            <a:solidFill>
              <a:srgbClr val="D5E2DF"/>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457200" y="1325880"/>
            <a:ext cx="4754880" cy="2971800"/>
          </a:xfrm>
          <a:prstGeom prst="rect">
            <a:avLst/>
          </a:prstGeom>
        </p:spPr>
      </p:pic>
      <p:sp>
        <p:nvSpPr>
          <p:cNvPr id="6" name="Text 3"/>
          <p:cNvSpPr txBox="1"/>
          <p:nvPr/>
        </p:nvSpPr>
        <p:spPr>
          <a:xfrm>
            <a:off x="5486400" y="1463040"/>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424"/>
                </a:solidFill>
                <a:latin typeface="Calibri" pitchFamily="34" charset="0"/>
                <a:ea typeface="Calibri" pitchFamily="34" charset="-122"/>
                <a:cs typeface="Calibri" pitchFamily="34" charset="-120"/>
              </a:rPr>
              <a:t>A 2-minute guided tour of the live product.</a:t>
            </a:r>
            <a:endParaRPr lang="en-US" sz="1150" dirty="0"/>
          </a:p>
          <a:p>
            <a:pPr marL="342900" indent="-342900">
              <a:spcAft>
                <a:spcPts val="800"/>
              </a:spcAft>
              <a:buSzPct val="100000"/>
              <a:buChar char="•"/>
            </a:pPr>
            <a:r>
              <a:rPr lang="en-US" sz="1150" dirty="0">
                <a:solidFill>
                  <a:srgbClr val="1B2424"/>
                </a:solidFill>
                <a:latin typeface="Calibri" pitchFamily="34" charset="0"/>
                <a:ea typeface="Calibri" pitchFamily="34" charset="-122"/>
                <a:cs typeface="Calibri" pitchFamily="34" charset="-120"/>
              </a:rPr>
              <a:t>A table mapping each criterion and weight to a claim and a link.</a:t>
            </a:r>
            <a:endParaRPr lang="en-US" sz="1150" dirty="0"/>
          </a:p>
          <a:p>
            <a:pPr marL="342900" indent="-342900">
              <a:spcAft>
                <a:spcPts val="800"/>
              </a:spcAft>
              <a:buSzPct val="100000"/>
              <a:buChar char="•"/>
            </a:pPr>
            <a:r>
              <a:rPr lang="en-US" sz="1150" dirty="0">
                <a:solidFill>
                  <a:srgbClr val="1B2424"/>
                </a:solidFill>
                <a:latin typeface="Calibri" pitchFamily="34" charset="0"/>
                <a:ea typeface="Calibri" pitchFamily="34" charset="-122"/>
                <a:cs typeface="Calibri" pitchFamily="34" charset="-120"/>
              </a:rPr>
              <a:t>An honest list: what is real, what is sample data, what is planned.</a:t>
            </a:r>
            <a:endParaRPr lang="en-US" sz="1150" dirty="0"/>
          </a:p>
          <a:p>
            <a:pPr marL="342900" indent="-342900">
              <a:spcAft>
                <a:spcPts val="800"/>
              </a:spcAft>
              <a:buSzPct val="100000"/>
              <a:buChar char="•"/>
            </a:pPr>
            <a:r>
              <a:rPr lang="en-US" sz="1150" dirty="0">
                <a:solidFill>
                  <a:srgbClr val="1B2424"/>
                </a:solidFill>
                <a:latin typeface="Calibri" pitchFamily="34" charset="0"/>
                <a:ea typeface="Calibri" pitchFamily="34" charset="-122"/>
                <a:cs typeface="Calibri" pitchFamily="34" charset="-120"/>
              </a:rPr>
              <a:t>Every deliverable Rules.md asks for, with a link.</a:t>
            </a:r>
            <a:endParaRPr lang="en-US" sz="1150" dirty="0"/>
          </a:p>
          <a:p>
            <a:pPr marL="342900" indent="-342900">
              <a:spcAft>
                <a:spcPts val="800"/>
              </a:spcAft>
              <a:buSzPct val="100000"/>
              <a:buChar char="•"/>
            </a:pPr>
            <a:r>
              <a:rPr lang="en-US" sz="1150" dirty="0">
                <a:solidFill>
                  <a:srgbClr val="1B2424"/>
                </a:solidFill>
                <a:latin typeface="Calibri" pitchFamily="34" charset="0"/>
                <a:ea typeface="Calibri" pitchFamily="34" charset="-122"/>
                <a:cs typeface="Calibri" pitchFamily="34" charset="-120"/>
              </a:rPr>
              <a:t>One click resets the demo for the next judge.</a:t>
            </a:r>
            <a:endParaRPr lang="en-US" sz="1150" dirty="0"/>
          </a:p>
        </p:txBody>
      </p:sp>
      <p:sp>
        <p:nvSpPr>
          <p:cNvPr id="7" name="Text 4"/>
          <p:cNvSpPr txBox="1"/>
          <p:nvPr/>
        </p:nvSpPr>
        <p:spPr>
          <a:xfrm>
            <a:off x="5486400" y="3886200"/>
            <a:ext cx="3200400" cy="274320"/>
          </a:xfrm>
          <a:prstGeom prst="rect">
            <a:avLst/>
          </a:prstGeom>
          <a:noFill/>
          <a:ln/>
        </p:spPr>
        <p:txBody>
          <a:bodyPr wrap="square" lIns="0" tIns="0" rIns="0" bIns="0" rtlCol="0" anchor="t"/>
          <a:lstStyle/>
          <a:p>
            <a:pPr indent="0" marL="0">
              <a:buNone/>
            </a:pPr>
            <a:r>
              <a:rPr lang="en-US" sz="1100" b="1" dirty="0">
                <a:solidFill>
                  <a:srgbClr val="0F3D3E"/>
                </a:solidFill>
                <a:latin typeface="Calibri" pitchFamily="34" charset="0"/>
                <a:ea typeface="Calibri" pitchFamily="34" charset="-122"/>
                <a:cs typeface="Calibri" pitchFamily="34" charset="-120"/>
              </a:rPr>
              <a:t>Open /judges on the live site.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E3A33B"/>
                </a:solidFill>
                <a:latin typeface="Calibri" pitchFamily="34" charset="0"/>
                <a:ea typeface="Calibri" pitchFamily="34" charset="-122"/>
                <a:cs typeface="Calibri" pitchFamily="34" charset="-120"/>
              </a:rPr>
              <a:t>08  ·  FUTURE SCOPE</a:t>
            </a:r>
            <a:endParaRPr lang="en-US" sz="1100" dirty="0"/>
          </a:p>
        </p:txBody>
      </p:sp>
      <p:sp>
        <p:nvSpPr>
          <p:cNvPr id="3" name="Text 1"/>
          <p:cNvSpPr txBox="1"/>
          <p:nvPr/>
        </p:nvSpPr>
        <p:spPr>
          <a:xfrm>
            <a:off x="457200" y="530352"/>
            <a:ext cx="8229600" cy="731520"/>
          </a:xfrm>
          <a:prstGeom prst="rect">
            <a:avLst/>
          </a:prstGeom>
          <a:noFill/>
          <a:ln/>
        </p:spPr>
        <p:txBody>
          <a:bodyPr wrap="square" lIns="0" tIns="0" rIns="0" bIns="0" rtlCol="0" anchor="t"/>
          <a:lstStyle/>
          <a:p>
            <a:pPr indent="0" marL="0">
              <a:buNone/>
            </a:pPr>
            <a:r>
              <a:rPr lang="en-US" sz="2600" b="1" dirty="0">
                <a:solidFill>
                  <a:srgbClr val="1B2424"/>
                </a:solidFill>
                <a:latin typeface="Cambria" pitchFamily="34" charset="0"/>
                <a:ea typeface="Cambria" pitchFamily="34" charset="-122"/>
                <a:cs typeface="Cambria" pitchFamily="34" charset="-120"/>
              </a:rPr>
              <a:t>The next three things we build</a:t>
            </a:r>
            <a:endParaRPr lang="en-US" sz="2600" dirty="0"/>
          </a:p>
        </p:txBody>
      </p:sp>
      <p:sp>
        <p:nvSpPr>
          <p:cNvPr id="4" name="Shape 2"/>
          <p:cNvSpPr/>
          <p:nvPr/>
        </p:nvSpPr>
        <p:spPr>
          <a:xfrm>
            <a:off x="457200" y="1463040"/>
            <a:ext cx="548640" cy="548640"/>
          </a:xfrm>
          <a:prstGeom prst="ellipse">
            <a:avLst/>
          </a:prstGeom>
          <a:solidFill>
            <a:srgbClr val="E3A33B"/>
          </a:solidFill>
          <a:ln w="12700">
            <a:solidFill>
              <a:srgbClr val="E3A33B"/>
            </a:solidFill>
            <a:prstDash val="solid"/>
          </a:ln>
        </p:spPr>
      </p:sp>
      <p:pic>
        <p:nvPicPr>
          <p:cNvPr id="5" name="Image 0" descr="preencoded.png">    </p:cNvPr>
          <p:cNvPicPr>
            <a:picLocks noChangeAspect="1"/>
          </p:cNvPicPr>
          <p:nvPr/>
        </p:nvPicPr>
        <p:blipFill>
          <a:blip r:embed="rId1"/>
          <a:stretch>
            <a:fillRect/>
          </a:stretch>
        </p:blipFill>
        <p:spPr>
          <a:xfrm>
            <a:off x="599846" y="1605686"/>
            <a:ext cx="263347" cy="263347"/>
          </a:xfrm>
          <a:prstGeom prst="rect">
            <a:avLst/>
          </a:prstGeom>
        </p:spPr>
      </p:pic>
      <p:sp>
        <p:nvSpPr>
          <p:cNvPr id="6" name="Text 3"/>
          <p:cNvSpPr txBox="1"/>
          <p:nvPr/>
        </p:nvSpPr>
        <p:spPr>
          <a:xfrm>
            <a:off x="1188720" y="1463040"/>
            <a:ext cx="7498080" cy="274320"/>
          </a:xfrm>
          <a:prstGeom prst="rect">
            <a:avLst/>
          </a:prstGeom>
          <a:noFill/>
          <a:ln/>
        </p:spPr>
        <p:txBody>
          <a:bodyPr wrap="square" lIns="0" tIns="0" rIns="0" bIns="0" rtlCol="0" anchor="t"/>
          <a:lstStyle/>
          <a:p>
            <a:pPr indent="0" marL="0">
              <a:buNone/>
            </a:pPr>
            <a:r>
              <a:rPr lang="en-US" sz="1500" b="1" dirty="0">
                <a:solidFill>
                  <a:srgbClr val="0F3D3E"/>
                </a:solidFill>
                <a:latin typeface="Calibri" pitchFamily="34" charset="0"/>
                <a:ea typeface="Calibri" pitchFamily="34" charset="-122"/>
                <a:cs typeface="Calibri" pitchFamily="34" charset="-120"/>
              </a:rPr>
              <a:t>WhatsApp and more languages</a:t>
            </a:r>
            <a:endParaRPr lang="en-US" sz="1500" dirty="0"/>
          </a:p>
        </p:txBody>
      </p:sp>
      <p:sp>
        <p:nvSpPr>
          <p:cNvPr id="7" name="Text 4"/>
          <p:cNvSpPr txBox="1"/>
          <p:nvPr/>
        </p:nvSpPr>
        <p:spPr>
          <a:xfrm>
            <a:off x="1188720" y="1755648"/>
            <a:ext cx="7498080" cy="548640"/>
          </a:xfrm>
          <a:prstGeom prst="rect">
            <a:avLst/>
          </a:prstGeom>
          <a:noFill/>
          <a:ln/>
        </p:spPr>
        <p:txBody>
          <a:bodyPr wrap="square" lIns="0" tIns="0" rIns="0" bIns="0" rtlCol="0" anchor="t"/>
          <a:lstStyle/>
          <a:p>
            <a:pPr indent="0" marL="0">
              <a:buNone/>
            </a:pPr>
            <a:r>
              <a:rPr lang="en-US" sz="1100" dirty="0">
                <a:solidFill>
                  <a:srgbClr val="1B2424"/>
                </a:solidFill>
                <a:latin typeface="Calibri" pitchFamily="34" charset="0"/>
                <a:ea typeface="Calibri" pitchFamily="34" charset="-122"/>
                <a:cs typeface="Calibri" pitchFamily="34" charset="-120"/>
              </a:rPr>
              <a:t>The same engine behind a WhatsApp number, plus Marathi, Tamil, Telugu and Bengali, so families who never open a website can still use it.</a:t>
            </a:r>
            <a:endParaRPr lang="en-US" sz="1100" dirty="0"/>
          </a:p>
        </p:txBody>
      </p:sp>
      <p:sp>
        <p:nvSpPr>
          <p:cNvPr id="8" name="Shape 5"/>
          <p:cNvSpPr/>
          <p:nvPr/>
        </p:nvSpPr>
        <p:spPr>
          <a:xfrm>
            <a:off x="457200" y="2514600"/>
            <a:ext cx="548640" cy="548640"/>
          </a:xfrm>
          <a:prstGeom prst="ellipse">
            <a:avLst/>
          </a:prstGeom>
          <a:solidFill>
            <a:srgbClr val="0F3D3E"/>
          </a:solidFill>
          <a:ln w="12700">
            <a:solidFill>
              <a:srgbClr val="0F3D3E"/>
            </a:solidFill>
            <a:prstDash val="solid"/>
          </a:ln>
        </p:spPr>
      </p:sp>
      <p:pic>
        <p:nvPicPr>
          <p:cNvPr id="9" name="Image 1" descr="preencoded.png">    </p:cNvPr>
          <p:cNvPicPr>
            <a:picLocks noChangeAspect="1"/>
          </p:cNvPicPr>
          <p:nvPr/>
        </p:nvPicPr>
        <p:blipFill>
          <a:blip r:embed="rId2"/>
          <a:stretch>
            <a:fillRect/>
          </a:stretch>
        </p:blipFill>
        <p:spPr>
          <a:xfrm>
            <a:off x="599846" y="2657246"/>
            <a:ext cx="263347" cy="263347"/>
          </a:xfrm>
          <a:prstGeom prst="rect">
            <a:avLst/>
          </a:prstGeom>
        </p:spPr>
      </p:pic>
      <p:sp>
        <p:nvSpPr>
          <p:cNvPr id="10" name="Text 6"/>
          <p:cNvSpPr txBox="1"/>
          <p:nvPr/>
        </p:nvSpPr>
        <p:spPr>
          <a:xfrm>
            <a:off x="1188720" y="2514600"/>
            <a:ext cx="7498080" cy="274320"/>
          </a:xfrm>
          <a:prstGeom prst="rect">
            <a:avLst/>
          </a:prstGeom>
          <a:noFill/>
          <a:ln/>
        </p:spPr>
        <p:txBody>
          <a:bodyPr wrap="square" lIns="0" tIns="0" rIns="0" bIns="0" rtlCol="0" anchor="t"/>
          <a:lstStyle/>
          <a:p>
            <a:pPr indent="0" marL="0">
              <a:buNone/>
            </a:pPr>
            <a:r>
              <a:rPr lang="en-US" sz="1500" b="1" dirty="0">
                <a:solidFill>
                  <a:srgbClr val="0F3D3E"/>
                </a:solidFill>
                <a:latin typeface="Calibri" pitchFamily="34" charset="0"/>
                <a:ea typeface="Calibri" pitchFamily="34" charset="-122"/>
                <a:cs typeface="Calibri" pitchFamily="34" charset="-120"/>
              </a:rPr>
              <a:t>DigiLocker and Account Aggregator</a:t>
            </a:r>
            <a:endParaRPr lang="en-US" sz="1500" dirty="0"/>
          </a:p>
        </p:txBody>
      </p:sp>
      <p:sp>
        <p:nvSpPr>
          <p:cNvPr id="11" name="Text 7"/>
          <p:cNvSpPr txBox="1"/>
          <p:nvPr/>
        </p:nvSpPr>
        <p:spPr>
          <a:xfrm>
            <a:off x="1188720" y="2807208"/>
            <a:ext cx="7498080" cy="548640"/>
          </a:xfrm>
          <a:prstGeom prst="rect">
            <a:avLst/>
          </a:prstGeom>
          <a:noFill/>
          <a:ln/>
        </p:spPr>
        <p:txBody>
          <a:bodyPr wrap="square" lIns="0" tIns="0" rIns="0" bIns="0" rtlCol="0" anchor="t"/>
          <a:lstStyle/>
          <a:p>
            <a:pPr indent="0" marL="0">
              <a:buNone/>
            </a:pPr>
            <a:r>
              <a:rPr lang="en-US" sz="1100" dirty="0">
                <a:solidFill>
                  <a:srgbClr val="1B2424"/>
                </a:solidFill>
                <a:latin typeface="Calibri" pitchFamily="34" charset="0"/>
                <a:ea typeface="Calibri" pitchFamily="34" charset="-122"/>
                <a:cs typeface="Calibri" pitchFamily="34" charset="-120"/>
              </a:rPr>
              <a:t>Fetch certificates directly and, with consent, read bank data through India's account aggregator framework, so the search step disappears.</a:t>
            </a:r>
            <a:endParaRPr lang="en-US" sz="1100" dirty="0"/>
          </a:p>
        </p:txBody>
      </p:sp>
      <p:sp>
        <p:nvSpPr>
          <p:cNvPr id="12" name="Shape 8"/>
          <p:cNvSpPr/>
          <p:nvPr/>
        </p:nvSpPr>
        <p:spPr>
          <a:xfrm>
            <a:off x="457200" y="3566160"/>
            <a:ext cx="548640" cy="548640"/>
          </a:xfrm>
          <a:prstGeom prst="ellipse">
            <a:avLst/>
          </a:prstGeom>
          <a:solidFill>
            <a:srgbClr val="0F3D3E"/>
          </a:solidFill>
          <a:ln w="12700">
            <a:solidFill>
              <a:srgbClr val="0F3D3E"/>
            </a:solidFill>
            <a:prstDash val="solid"/>
          </a:ln>
        </p:spPr>
      </p:sp>
      <p:pic>
        <p:nvPicPr>
          <p:cNvPr id="13" name="Image 2" descr="preencoded.png">    </p:cNvPr>
          <p:cNvPicPr>
            <a:picLocks noChangeAspect="1"/>
          </p:cNvPicPr>
          <p:nvPr/>
        </p:nvPicPr>
        <p:blipFill>
          <a:blip r:embed="rId3"/>
          <a:stretch>
            <a:fillRect/>
          </a:stretch>
        </p:blipFill>
        <p:spPr>
          <a:xfrm>
            <a:off x="599846" y="3708806"/>
            <a:ext cx="263347" cy="263347"/>
          </a:xfrm>
          <a:prstGeom prst="rect">
            <a:avLst/>
          </a:prstGeom>
        </p:spPr>
      </p:pic>
      <p:sp>
        <p:nvSpPr>
          <p:cNvPr id="14" name="Text 9"/>
          <p:cNvSpPr txBox="1"/>
          <p:nvPr/>
        </p:nvSpPr>
        <p:spPr>
          <a:xfrm>
            <a:off x="1188720" y="3566160"/>
            <a:ext cx="7498080" cy="274320"/>
          </a:xfrm>
          <a:prstGeom prst="rect">
            <a:avLst/>
          </a:prstGeom>
          <a:noFill/>
          <a:ln/>
        </p:spPr>
        <p:txBody>
          <a:bodyPr wrap="square" lIns="0" tIns="0" rIns="0" bIns="0" rtlCol="0" anchor="t"/>
          <a:lstStyle/>
          <a:p>
            <a:pPr indent="0" marL="0">
              <a:buNone/>
            </a:pPr>
            <a:r>
              <a:rPr lang="en-US" sz="1500" b="1" dirty="0">
                <a:solidFill>
                  <a:srgbClr val="0F3D3E"/>
                </a:solidFill>
                <a:latin typeface="Calibri" pitchFamily="34" charset="0"/>
                <a:ea typeface="Calibri" pitchFamily="34" charset="-122"/>
                <a:cs typeface="Calibri" pitchFamily="34" charset="-120"/>
              </a:rPr>
              <a:t>The service centre network</a:t>
            </a:r>
            <a:endParaRPr lang="en-US" sz="1500" dirty="0"/>
          </a:p>
        </p:txBody>
      </p:sp>
      <p:sp>
        <p:nvSpPr>
          <p:cNvPr id="15" name="Text 10"/>
          <p:cNvSpPr txBox="1"/>
          <p:nvPr/>
        </p:nvSpPr>
        <p:spPr>
          <a:xfrm>
            <a:off x="1188720" y="3858768"/>
            <a:ext cx="7498080" cy="548640"/>
          </a:xfrm>
          <a:prstGeom prst="rect">
            <a:avLst/>
          </a:prstGeom>
          <a:noFill/>
          <a:ln/>
        </p:spPr>
        <p:txBody>
          <a:bodyPr wrap="square" lIns="0" tIns="0" rIns="0" bIns="0" rtlCol="0" anchor="t"/>
          <a:lstStyle/>
          <a:p>
            <a:pPr indent="0" marL="0">
              <a:buNone/>
            </a:pPr>
            <a:r>
              <a:rPr lang="en-US" sz="1100" dirty="0">
                <a:solidFill>
                  <a:srgbClr val="1B2424"/>
                </a:solidFill>
                <a:latin typeface="Calibri" pitchFamily="34" charset="0"/>
                <a:ea typeface="Calibri" pitchFamily="34" charset="-122"/>
                <a:cs typeface="Calibri" pitchFamily="34" charset="-120"/>
              </a:rPr>
              <a:t>A helper dashboard for the 5 lakh Common Service Centres, so one trained operator can run claims for a whole village.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3D3E"/>
        </a:solidFill>
      </p:bgPr>
    </p:bg>
    <p:spTree>
      <p:nvGrpSpPr>
        <p:cNvPr id="1" name=""/>
        <p:cNvGrpSpPr/>
        <p:nvPr/>
      </p:nvGrpSpPr>
      <p:grpSpPr>
        <a:xfrm>
          <a:off x="0" y="0"/>
          <a:ext cx="0" cy="0"/>
          <a:chOff x="0" y="0"/>
          <a:chExt cx="0" cy="0"/>
        </a:xfrm>
      </p:grpSpPr>
      <p:sp>
        <p:nvSpPr>
          <p:cNvPr id="2" name="Text 0"/>
          <p:cNvSpPr txBox="1"/>
          <p:nvPr/>
        </p:nvSpPr>
        <p:spPr>
          <a:xfrm>
            <a:off x="548640" y="1188720"/>
            <a:ext cx="804672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Aapki Poonji, Aapka Adhikar.</a:t>
            </a:r>
            <a:endParaRPr lang="en-US" sz="3400" dirty="0"/>
          </a:p>
        </p:txBody>
      </p:sp>
      <p:sp>
        <p:nvSpPr>
          <p:cNvPr id="3" name="Text 1"/>
          <p:cNvSpPr txBox="1"/>
          <p:nvPr/>
        </p:nvSpPr>
        <p:spPr>
          <a:xfrm>
            <a:off x="548640" y="1965960"/>
            <a:ext cx="7772400" cy="640080"/>
          </a:xfrm>
          <a:prstGeom prst="rect">
            <a:avLst/>
          </a:prstGeom>
          <a:noFill/>
          <a:ln/>
        </p:spPr>
        <p:txBody>
          <a:bodyPr wrap="square" lIns="0" tIns="0" rIns="0" bIns="0" rtlCol="0" anchor="t"/>
          <a:lstStyle/>
          <a:p>
            <a:pPr indent="0" marL="0">
              <a:buNone/>
            </a:pPr>
            <a:r>
              <a:rPr lang="en-US" sz="1700" dirty="0">
                <a:solidFill>
                  <a:srgbClr val="CFE3DF"/>
                </a:solidFill>
                <a:latin typeface="Calibri" pitchFamily="34" charset="0"/>
                <a:ea typeface="Calibri" pitchFamily="34" charset="-122"/>
                <a:cs typeface="Calibri" pitchFamily="34" charset="-120"/>
              </a:rPr>
              <a:t>Your money, your right. Virasat is the layer that gets families to it, in their own language.</a:t>
            </a:r>
            <a:endParaRPr lang="en-US" sz="1700" dirty="0"/>
          </a:p>
        </p:txBody>
      </p:sp>
      <p:sp>
        <p:nvSpPr>
          <p:cNvPr id="4" name="Text 2"/>
          <p:cNvSpPr txBox="1"/>
          <p:nvPr/>
        </p:nvSpPr>
        <p:spPr>
          <a:xfrm>
            <a:off x="548640" y="2926080"/>
            <a:ext cx="2011680" cy="457200"/>
          </a:xfrm>
          <a:prstGeom prst="rect">
            <a:avLst/>
          </a:prstGeom>
          <a:noFill/>
          <a:ln/>
        </p:spPr>
        <p:txBody>
          <a:bodyPr wrap="square" lIns="0" tIns="0" rIns="0" bIns="0" rtlCol="0" anchor="t"/>
          <a:lstStyle/>
          <a:p>
            <a:pPr indent="0" marL="0">
              <a:buNone/>
            </a:pPr>
            <a:r>
              <a:rPr lang="en-US" sz="2400" b="1" dirty="0">
                <a:solidFill>
                  <a:srgbClr val="E3A33B"/>
                </a:solidFill>
                <a:latin typeface="Cambria" pitchFamily="34" charset="0"/>
                <a:ea typeface="Cambria" pitchFamily="34" charset="-122"/>
                <a:cs typeface="Cambria" pitchFamily="34" charset="-120"/>
              </a:rPr>
              <a:t>₹1.84 L cr</a:t>
            </a:r>
            <a:endParaRPr lang="en-US" sz="2400" dirty="0"/>
          </a:p>
        </p:txBody>
      </p:sp>
      <p:sp>
        <p:nvSpPr>
          <p:cNvPr id="5" name="Text 3"/>
          <p:cNvSpPr txBox="1"/>
          <p:nvPr/>
        </p:nvSpPr>
        <p:spPr>
          <a:xfrm>
            <a:off x="548640" y="3429000"/>
            <a:ext cx="2011680" cy="365760"/>
          </a:xfrm>
          <a:prstGeom prst="rect">
            <a:avLst/>
          </a:prstGeom>
          <a:noFill/>
          <a:ln/>
        </p:spPr>
        <p:txBody>
          <a:bodyPr wrap="square" lIns="0" tIns="0" rIns="0" bIns="0" rtlCol="0" anchor="t"/>
          <a:lstStyle/>
          <a:p>
            <a:pPr indent="0" marL="0">
              <a:buNone/>
            </a:pPr>
            <a:r>
              <a:rPr lang="en-US" sz="1100" dirty="0">
                <a:solidFill>
                  <a:srgbClr val="9FC3BD"/>
                </a:solidFill>
                <a:latin typeface="Calibri" pitchFamily="34" charset="0"/>
                <a:ea typeface="Calibri" pitchFamily="34" charset="-122"/>
                <a:cs typeface="Calibri" pitchFamily="34" charset="-120"/>
              </a:rPr>
              <a:t>waiting to be claimed</a:t>
            </a:r>
            <a:endParaRPr lang="en-US" sz="1100" dirty="0"/>
          </a:p>
        </p:txBody>
      </p:sp>
      <p:sp>
        <p:nvSpPr>
          <p:cNvPr id="6" name="Text 4"/>
          <p:cNvSpPr txBox="1"/>
          <p:nvPr/>
        </p:nvSpPr>
        <p:spPr>
          <a:xfrm>
            <a:off x="2651760" y="2926080"/>
            <a:ext cx="2011680" cy="457200"/>
          </a:xfrm>
          <a:prstGeom prst="rect">
            <a:avLst/>
          </a:prstGeom>
          <a:noFill/>
          <a:ln/>
        </p:spPr>
        <p:txBody>
          <a:bodyPr wrap="square" lIns="0" tIns="0" rIns="0" bIns="0" rtlCol="0" anchor="t"/>
          <a:lstStyle/>
          <a:p>
            <a:pPr indent="0" marL="0">
              <a:buNone/>
            </a:pPr>
            <a:r>
              <a:rPr lang="en-US" sz="2400" b="1" dirty="0">
                <a:solidFill>
                  <a:srgbClr val="E3A33B"/>
                </a:solidFill>
                <a:latin typeface="Cambria" pitchFamily="34" charset="0"/>
                <a:ea typeface="Cambria" pitchFamily="34" charset="-122"/>
                <a:cs typeface="Cambria" pitchFamily="34" charset="-120"/>
              </a:rPr>
              <a:t>1 photo</a:t>
            </a:r>
            <a:endParaRPr lang="en-US" sz="2400" dirty="0"/>
          </a:p>
        </p:txBody>
      </p:sp>
      <p:sp>
        <p:nvSpPr>
          <p:cNvPr id="7" name="Text 5"/>
          <p:cNvSpPr txBox="1"/>
          <p:nvPr/>
        </p:nvSpPr>
        <p:spPr>
          <a:xfrm>
            <a:off x="2651760" y="3429000"/>
            <a:ext cx="2011680" cy="365760"/>
          </a:xfrm>
          <a:prstGeom prst="rect">
            <a:avLst/>
          </a:prstGeom>
          <a:noFill/>
          <a:ln/>
        </p:spPr>
        <p:txBody>
          <a:bodyPr wrap="square" lIns="0" tIns="0" rIns="0" bIns="0" rtlCol="0" anchor="t"/>
          <a:lstStyle/>
          <a:p>
            <a:pPr indent="0" marL="0">
              <a:buNone/>
            </a:pPr>
            <a:r>
              <a:rPr lang="en-US" sz="1100" dirty="0">
                <a:solidFill>
                  <a:srgbClr val="9FC3BD"/>
                </a:solidFill>
                <a:latin typeface="Calibri" pitchFamily="34" charset="0"/>
                <a:ea typeface="Calibri" pitchFamily="34" charset="-122"/>
                <a:cs typeface="Calibri" pitchFamily="34" charset="-120"/>
              </a:rPr>
              <a:t>to get started</a:t>
            </a:r>
            <a:endParaRPr lang="en-US" sz="1100" dirty="0"/>
          </a:p>
        </p:txBody>
      </p:sp>
      <p:sp>
        <p:nvSpPr>
          <p:cNvPr id="8" name="Text 6"/>
          <p:cNvSpPr txBox="1"/>
          <p:nvPr/>
        </p:nvSpPr>
        <p:spPr>
          <a:xfrm>
            <a:off x="4754880" y="2926080"/>
            <a:ext cx="2011680" cy="457200"/>
          </a:xfrm>
          <a:prstGeom prst="rect">
            <a:avLst/>
          </a:prstGeom>
          <a:noFill/>
          <a:ln/>
        </p:spPr>
        <p:txBody>
          <a:bodyPr wrap="square" lIns="0" tIns="0" rIns="0" bIns="0" rtlCol="0" anchor="t"/>
          <a:lstStyle/>
          <a:p>
            <a:pPr indent="0" marL="0">
              <a:buNone/>
            </a:pPr>
            <a:r>
              <a:rPr lang="en-US" sz="2400" b="1" dirty="0">
                <a:solidFill>
                  <a:srgbClr val="E3A33B"/>
                </a:solidFill>
                <a:latin typeface="Cambria" pitchFamily="34" charset="0"/>
                <a:ea typeface="Cambria" pitchFamily="34" charset="-122"/>
                <a:cs typeface="Cambria" pitchFamily="34" charset="-120"/>
              </a:rPr>
              <a:t>₹0</a:t>
            </a:r>
            <a:endParaRPr lang="en-US" sz="2400" dirty="0"/>
          </a:p>
        </p:txBody>
      </p:sp>
      <p:sp>
        <p:nvSpPr>
          <p:cNvPr id="9" name="Text 7"/>
          <p:cNvSpPr txBox="1"/>
          <p:nvPr/>
        </p:nvSpPr>
        <p:spPr>
          <a:xfrm>
            <a:off x="4754880" y="3429000"/>
            <a:ext cx="2011680" cy="365760"/>
          </a:xfrm>
          <a:prstGeom prst="rect">
            <a:avLst/>
          </a:prstGeom>
          <a:noFill/>
          <a:ln/>
        </p:spPr>
        <p:txBody>
          <a:bodyPr wrap="square" lIns="0" tIns="0" rIns="0" bIns="0" rtlCol="0" anchor="t"/>
          <a:lstStyle/>
          <a:p>
            <a:pPr indent="0" marL="0">
              <a:buNone/>
            </a:pPr>
            <a:r>
              <a:rPr lang="en-US" sz="1100" dirty="0">
                <a:solidFill>
                  <a:srgbClr val="9FC3BD"/>
                </a:solidFill>
                <a:latin typeface="Calibri" pitchFamily="34" charset="0"/>
                <a:ea typeface="Calibri" pitchFamily="34" charset="-122"/>
                <a:cs typeface="Calibri" pitchFamily="34" charset="-120"/>
              </a:rPr>
              <a:t>cost to families</a:t>
            </a:r>
            <a:endParaRPr lang="en-US" sz="1100" dirty="0"/>
          </a:p>
        </p:txBody>
      </p:sp>
      <p:sp>
        <p:nvSpPr>
          <p:cNvPr id="10" name="Text 8"/>
          <p:cNvSpPr txBox="1"/>
          <p:nvPr/>
        </p:nvSpPr>
        <p:spPr>
          <a:xfrm>
            <a:off x="6858000" y="2926080"/>
            <a:ext cx="2011680" cy="457200"/>
          </a:xfrm>
          <a:prstGeom prst="rect">
            <a:avLst/>
          </a:prstGeom>
          <a:noFill/>
          <a:ln/>
        </p:spPr>
        <p:txBody>
          <a:bodyPr wrap="square" lIns="0" tIns="0" rIns="0" bIns="0" rtlCol="0" anchor="t"/>
          <a:lstStyle/>
          <a:p>
            <a:pPr indent="0" marL="0">
              <a:buNone/>
            </a:pPr>
            <a:r>
              <a:rPr lang="en-US" sz="2400" b="1" dirty="0">
                <a:solidFill>
                  <a:srgbClr val="E3A33B"/>
                </a:solidFill>
                <a:latin typeface="Cambria" pitchFamily="34" charset="0"/>
                <a:ea typeface="Cambria" pitchFamily="34" charset="-122"/>
                <a:cs typeface="Cambria" pitchFamily="34" charset="-120"/>
              </a:rPr>
              <a:t>53 tests</a:t>
            </a:r>
            <a:endParaRPr lang="en-US" sz="2400" dirty="0"/>
          </a:p>
        </p:txBody>
      </p:sp>
      <p:sp>
        <p:nvSpPr>
          <p:cNvPr id="11" name="Text 9"/>
          <p:cNvSpPr txBox="1"/>
          <p:nvPr/>
        </p:nvSpPr>
        <p:spPr>
          <a:xfrm>
            <a:off x="6858000" y="3429000"/>
            <a:ext cx="2011680" cy="365760"/>
          </a:xfrm>
          <a:prstGeom prst="rect">
            <a:avLst/>
          </a:prstGeom>
          <a:noFill/>
          <a:ln/>
        </p:spPr>
        <p:txBody>
          <a:bodyPr wrap="square" lIns="0" tIns="0" rIns="0" bIns="0" rtlCol="0" anchor="t"/>
          <a:lstStyle/>
          <a:p>
            <a:pPr indent="0" marL="0">
              <a:buNone/>
            </a:pPr>
            <a:r>
              <a:rPr lang="en-US" sz="1100" dirty="0">
                <a:solidFill>
                  <a:srgbClr val="9FC3BD"/>
                </a:solidFill>
                <a:latin typeface="Calibri" pitchFamily="34" charset="0"/>
                <a:ea typeface="Calibri" pitchFamily="34" charset="-122"/>
                <a:cs typeface="Calibri" pitchFamily="34" charset="-120"/>
              </a:rPr>
              <a:t>and zero a11y violations</a:t>
            </a:r>
            <a:endParaRPr lang="en-US" sz="1100" dirty="0"/>
          </a:p>
        </p:txBody>
      </p:sp>
      <p:sp>
        <p:nvSpPr>
          <p:cNvPr id="12" name="Text 10"/>
          <p:cNvSpPr txBox="1"/>
          <p:nvPr/>
        </p:nvSpPr>
        <p:spPr>
          <a:xfrm>
            <a:off x="548640" y="4389120"/>
            <a:ext cx="8046720" cy="274320"/>
          </a:xfrm>
          <a:prstGeom prst="rect">
            <a:avLst/>
          </a:prstGeom>
          <a:noFill/>
          <a:ln/>
        </p:spPr>
        <p:txBody>
          <a:bodyPr wrap="square" lIns="0" tIns="0" rIns="0" bIns="0" rtlCol="0" anchor="t"/>
          <a:lstStyle/>
          <a:p>
            <a:pPr indent="0" marL="0">
              <a:buNone/>
            </a:pPr>
            <a:r>
              <a:rPr lang="en-US" sz="1000" dirty="0">
                <a:solidFill>
                  <a:srgbClr val="9FC3BD"/>
                </a:solidFill>
                <a:latin typeface="Calibri" pitchFamily="34" charset="0"/>
                <a:ea typeface="Calibri" pitchFamily="34" charset="-122"/>
                <a:cs typeface="Calibri" pitchFamily="34" charset="-120"/>
              </a:rPr>
              <a:t>Team USV  ·  Global Innovation Hackathon 2026  ·  Live at virasat-indol.vercel.app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Virasat: Team USV, Project Submission</dc:title>
  <dc:subject>PptxGenJS Presentation</dc:subject>
  <dc:creator>PptxGenJS</dc:creator>
  <cp:lastModifiedBy>PptxGenJS</cp:lastModifiedBy>
  <cp:revision>1</cp:revision>
  <dcterms:created xsi:type="dcterms:W3CDTF">2026-09-22T00:03:55Z</dcterms:created>
  <dcterms:modified xsi:type="dcterms:W3CDTF">2026-09-22T00:03:55Z</dcterms:modified>
</cp:coreProperties>
</file>