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hyperlink" Target="https://virasat-indol.vercel.app" TargetMode="External"/><Relationship Id="rId2" Type="http://schemas.openxmlformats.org/officeDocument/2006/relationships/hyperlink" Target="https://github.com/usv240/virasat" TargetMode="External"/><Relationship Id="rId3" Type="http://schemas.openxmlformats.org/officeDocument/2006/relationships/image" Target="../media/image-1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3D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3A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INNOVATION HACKATHON 2026  ·  PROJECT SUBMISSION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4572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Virasat</a:t>
            </a:r>
            <a:endParaRPr lang="en-US" sz="5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82880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FE3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and claim your family's money.</a:t>
            </a:r>
            <a:endParaRPr lang="en-US" sz="19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377440"/>
            <a:ext cx="4480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8F1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working product. Photograph old papers, and Virasat finds where the money is, explains what to do in your language, and fills the forms.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9319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USV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427939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FC3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FinTech  ·  Generative AI  ·  Social Impact  ·  Accessibility</a:t>
            </a:r>
            <a:endParaRPr lang="en-US" sz="1050" dirty="0"/>
          </a:p>
        </p:txBody>
      </p:sp>
      <p:sp>
        <p:nvSpPr>
          <p:cNvPr id="8" name="Text 6">
            <a:hlinkClick r:id="rId1" tooltip=""/>
          </p:cNvPr>
          <p:cNvSpPr txBox="1"/>
          <p:nvPr/>
        </p:nvSpPr>
        <p:spPr>
          <a:xfrm>
            <a:off x="548640" y="3291840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u="sng" dirty="0">
                <a:solidFill>
                  <a:srgbClr val="E3A33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Try it now: virasat-indol.vercel.app</a:t>
            </a:r>
            <a:endParaRPr lang="en-US" sz="1300" dirty="0"/>
          </a:p>
        </p:txBody>
      </p:sp>
      <p:sp>
        <p:nvSpPr>
          <p:cNvPr id="9" name="Text 7">
            <a:hlinkClick r:id="rId2" tooltip=""/>
          </p:cNvPr>
          <p:cNvSpPr txBox="1"/>
          <p:nvPr/>
        </p:nvSpPr>
        <p:spPr>
          <a:xfrm>
            <a:off x="548640" y="36118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u="sng" dirty="0">
                <a:solidFill>
                  <a:srgbClr val="CFE3D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Code: github.com/usv240/virasat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541264" y="649224"/>
            <a:ext cx="1673352" cy="3547872"/>
          </a:xfrm>
          <a:prstGeom prst="roundRect">
            <a:avLst>
              <a:gd name="adj" fmla="val 3279"/>
            </a:avLst>
          </a:prstGeom>
          <a:solidFill>
            <a:srgbClr val="EDF2F1"/>
          </a:solidFill>
          <a:ln w="9525">
            <a:solidFill>
              <a:srgbClr val="D5E2D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77840" y="685800"/>
            <a:ext cx="1600200" cy="3474720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7406640" y="1463040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FE3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in Hindi,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FE3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a phone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3A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 ·  PROBLEM STATEMENT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30352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B24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Lakhs of families have money waiting for them.</a:t>
            </a:r>
            <a:endParaRPr lang="en-US" sz="2600" dirty="0"/>
          </a:p>
          <a:p>
            <a:pPr indent="0" marL="0">
              <a:buNone/>
            </a:pPr>
            <a:r>
              <a:rPr lang="en-US" sz="2600" b="1" dirty="0">
                <a:solidFill>
                  <a:srgbClr val="1B24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They just do not know it.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1920240" cy="1691640"/>
          </a:xfrm>
          <a:prstGeom prst="roundRect">
            <a:avLst>
              <a:gd name="adj" fmla="val 4324"/>
            </a:avLst>
          </a:prstGeom>
          <a:solidFill>
            <a:srgbClr val="0F3D3E"/>
          </a:solidFill>
          <a:ln w="9525">
            <a:solidFill>
              <a:srgbClr val="0F3D3E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621792" y="1810512"/>
            <a:ext cx="1691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rgbClr val="E3A3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₹1.84 L cr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621792" y="2359152"/>
            <a:ext cx="16276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unclaimed across banks, insurance, PF and shares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1938528" y="3090672"/>
            <a:ext cx="347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9FC3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[1]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542032" y="1645920"/>
            <a:ext cx="192024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D5E2D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2706624" y="1810512"/>
            <a:ext cx="1691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rgbClr val="0F3D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₹72,454 cr</a:t>
            </a:r>
            <a:endParaRPr lang="en-US" sz="2300" dirty="0"/>
          </a:p>
        </p:txBody>
      </p:sp>
      <p:sp>
        <p:nvSpPr>
          <p:cNvPr id="10" name="Text 8"/>
          <p:cNvSpPr txBox="1"/>
          <p:nvPr/>
        </p:nvSpPr>
        <p:spPr>
          <a:xfrm>
            <a:off x="2706624" y="2359152"/>
            <a:ext cx="16276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B24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old bank accounts alone, parked with RBI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4023360" y="3090672"/>
            <a:ext cx="347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5B6B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[2]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4626864" y="1645920"/>
            <a:ext cx="192024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D5E2D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4791456" y="1810512"/>
            <a:ext cx="1691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rgbClr val="0F3D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8.5 lakh</a:t>
            </a:r>
            <a:endParaRPr lang="en-US" sz="2300" dirty="0"/>
          </a:p>
        </p:txBody>
      </p:sp>
      <p:sp>
        <p:nvSpPr>
          <p:cNvPr id="14" name="Text 12"/>
          <p:cNvSpPr txBox="1"/>
          <p:nvPr/>
        </p:nvSpPr>
        <p:spPr>
          <a:xfrm>
            <a:off x="4791456" y="2359152"/>
            <a:ext cx="16276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B24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 have ever used RBI's search portal, in a country of 140 crore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6108192" y="3090672"/>
            <a:ext cx="347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5B6B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[3]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6711696" y="1645920"/>
            <a:ext cx="192024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D5E2D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6876288" y="1810512"/>
            <a:ext cx="1691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rgbClr val="0F3D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₹38,700</a:t>
            </a:r>
            <a:endParaRPr lang="en-US" sz="2300" dirty="0"/>
          </a:p>
        </p:txBody>
      </p:sp>
      <p:sp>
        <p:nvSpPr>
          <p:cNvPr id="18" name="Text 16"/>
          <p:cNvSpPr txBox="1"/>
          <p:nvPr/>
        </p:nvSpPr>
        <p:spPr>
          <a:xfrm>
            <a:off x="6876288" y="2359152"/>
            <a:ext cx="16276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B24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 returned per family in Gujarat's claim camps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8193024" y="3090672"/>
            <a:ext cx="347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5B6B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[4]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457200" y="3611880"/>
            <a:ext cx="8229600" cy="1005840"/>
          </a:xfrm>
          <a:prstGeom prst="roundRect">
            <a:avLst>
              <a:gd name="adj" fmla="val 7273"/>
            </a:avLst>
          </a:prstGeom>
          <a:solidFill>
            <a:srgbClr val="FBF1DF"/>
          </a:solidFill>
          <a:ln w="9525">
            <a:solidFill>
              <a:srgbClr val="FBF1D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658368" y="3858768"/>
            <a:ext cx="502920" cy="502920"/>
          </a:xfrm>
          <a:prstGeom prst="ellipse">
            <a:avLst/>
          </a:prstGeom>
          <a:solidFill>
            <a:srgbClr val="E3A33B"/>
          </a:solidFill>
          <a:ln w="12700">
            <a:solidFill>
              <a:srgbClr val="E3A33B"/>
            </a:solidFill>
            <a:prstDash val="solid"/>
          </a:ln>
        </p:spPr>
      </p:sp>
      <p:pic>
        <p:nvPicPr>
          <p:cNvPr id="2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9127" y="3989527"/>
            <a:ext cx="241402" cy="241402"/>
          </a:xfrm>
          <a:prstGeom prst="rect">
            <a:avLst/>
          </a:prstGeom>
        </p:spPr>
      </p:pic>
      <p:sp>
        <p:nvSpPr>
          <p:cNvPr id="23" name="Text 20"/>
          <p:cNvSpPr txBox="1"/>
          <p:nvPr/>
        </p:nvSpPr>
        <p:spPr>
          <a:xfrm>
            <a:off x="1371600" y="3767328"/>
            <a:ext cx="7132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3D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stays stuck: </a:t>
            </a:r>
            <a:pPr indent="0" marL="0">
              <a:buNone/>
            </a:pPr>
            <a:r>
              <a:rPr lang="en-US" sz="1250" dirty="0">
                <a:solidFill>
                  <a:srgbClr val="1B24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nobody knew it existed; it is spread across six separate portals, mostly in English; the rules are confusing, so agents take 5 to 15 percent; and accounts without a nominee become new unclaimed money every year.</a:t>
            </a:r>
            <a:endParaRPr lang="en-US" sz="1250" dirty="0"/>
          </a:p>
        </p:txBody>
      </p:sp>
      <p:sp>
        <p:nvSpPr>
          <p:cNvPr id="24" name="Text 21"/>
          <p:cNvSpPr txBox="1"/>
          <p:nvPr/>
        </p:nvSpPr>
        <p:spPr>
          <a:xfrm>
            <a:off x="457200" y="482803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[1] Union Finance Minister, Oct 2025  [2] Govt and RBI, Jan 2026  [3] RBI UDGAM, Jul 2025  [4] All India Radio. Full list on the References page of the site.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6F0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3A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 ·  PROPOSED SOLUTION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30352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B24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Take a photo. Get your family's money back.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1874520" cy="237744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D5E2D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0080" y="1600200"/>
            <a:ext cx="502920" cy="502920"/>
          </a:xfrm>
          <a:prstGeom prst="ellipse">
            <a:avLst/>
          </a:prstGeom>
          <a:solidFill>
            <a:srgbClr val="0F3D3E"/>
          </a:solidFill>
          <a:ln w="12700">
            <a:solidFill>
              <a:srgbClr val="0F3D3E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0839" y="1730959"/>
            <a:ext cx="241402" cy="24140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40080" y="2212848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0F3D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 FIND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2514600"/>
            <a:ext cx="157276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4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Photograph old papers, or upload the income tax statement. Virasat lists every place the family may have money, and the exact portal to search.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2377440" y="2514600"/>
            <a:ext cx="146304" cy="228600"/>
          </a:xfrm>
          <a:prstGeom prst="chevron">
            <a:avLst/>
          </a:prstGeom>
          <a:solidFill>
            <a:srgbClr val="E3A33B"/>
          </a:solidFill>
          <a:ln w="12700">
            <a:solidFill>
              <a:srgbClr val="E3A33B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2560320" y="1417320"/>
            <a:ext cx="1874520" cy="237744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D5E2D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2743200" y="1600200"/>
            <a:ext cx="502920" cy="502920"/>
          </a:xfrm>
          <a:prstGeom prst="ellipse">
            <a:avLst/>
          </a:prstGeom>
          <a:solidFill>
            <a:srgbClr val="0F3D3E"/>
          </a:solidFill>
          <a:ln w="12700">
            <a:solidFill>
              <a:srgbClr val="0F3D3E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73959" y="1730959"/>
            <a:ext cx="241402" cy="241402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2743200" y="2212848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0F3D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 CLAIM</a:t>
            </a:r>
            <a:endParaRPr lang="en-US" sz="1250" dirty="0"/>
          </a:p>
        </p:txBody>
      </p:sp>
      <p:sp>
        <p:nvSpPr>
          <p:cNvPr id="14" name="Text 10"/>
          <p:cNvSpPr txBox="1"/>
          <p:nvPr/>
        </p:nvSpPr>
        <p:spPr>
          <a:xfrm>
            <a:off x="2743200" y="2514600"/>
            <a:ext cx="157276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4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plain questions. A tested rule engine picks the route and generates the filled claim pack as a PDF.</a:t>
            </a:r>
            <a:endParaRPr lang="en-US" sz="1050" dirty="0"/>
          </a:p>
        </p:txBody>
      </p:sp>
      <p:sp>
        <p:nvSpPr>
          <p:cNvPr id="15" name="Shape 11"/>
          <p:cNvSpPr/>
          <p:nvPr/>
        </p:nvSpPr>
        <p:spPr>
          <a:xfrm>
            <a:off x="4480560" y="2514600"/>
            <a:ext cx="146304" cy="228600"/>
          </a:xfrm>
          <a:prstGeom prst="chevron">
            <a:avLst/>
          </a:prstGeom>
          <a:solidFill>
            <a:srgbClr val="E3A33B"/>
          </a:solidFill>
          <a:ln w="12700">
            <a:solidFill>
              <a:srgbClr val="E3A33B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4663440" y="1417320"/>
            <a:ext cx="1874520" cy="237744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D5E2D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4846320" y="1600200"/>
            <a:ext cx="502920" cy="502920"/>
          </a:xfrm>
          <a:prstGeom prst="ellipse">
            <a:avLst/>
          </a:prstGeom>
          <a:solidFill>
            <a:srgbClr val="0F3D3E"/>
          </a:solidFill>
          <a:ln w="12700">
            <a:solidFill>
              <a:srgbClr val="0F3D3E"/>
            </a:solidFill>
            <a:prstDash val="solid"/>
          </a:ln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77079" y="1730959"/>
            <a:ext cx="241402" cy="241402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4846320" y="2212848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0F3D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 TRACK</a:t>
            </a:r>
            <a:endParaRPr lang="en-US" sz="1250" dirty="0"/>
          </a:p>
        </p:txBody>
      </p:sp>
      <p:sp>
        <p:nvSpPr>
          <p:cNvPr id="20" name="Text 15"/>
          <p:cNvSpPr txBox="1"/>
          <p:nvPr/>
        </p:nvSpPr>
        <p:spPr>
          <a:xfrm>
            <a:off x="4846320" y="2514600"/>
            <a:ext cx="157276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4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Status, next action, and a pre-written ombudsman complaint after 30 days of silence.</a:t>
            </a:r>
            <a:endParaRPr lang="en-US" sz="1050" dirty="0"/>
          </a:p>
        </p:txBody>
      </p:sp>
      <p:sp>
        <p:nvSpPr>
          <p:cNvPr id="21" name="Shape 16"/>
          <p:cNvSpPr/>
          <p:nvPr/>
        </p:nvSpPr>
        <p:spPr>
          <a:xfrm>
            <a:off x="6583680" y="2514600"/>
            <a:ext cx="146304" cy="228600"/>
          </a:xfrm>
          <a:prstGeom prst="chevron">
            <a:avLst/>
          </a:prstGeom>
          <a:solidFill>
            <a:srgbClr val="E3A33B"/>
          </a:solidFill>
          <a:ln w="12700">
            <a:solidFill>
              <a:srgbClr val="E3A33B"/>
            </a:solidFill>
            <a:prstDash val="solid"/>
          </a:ln>
        </p:spPr>
      </p:sp>
      <p:sp>
        <p:nvSpPr>
          <p:cNvPr id="22" name="Shape 17"/>
          <p:cNvSpPr/>
          <p:nvPr/>
        </p:nvSpPr>
        <p:spPr>
          <a:xfrm>
            <a:off x="6766560" y="1417320"/>
            <a:ext cx="1874520" cy="237744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D5E2D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23" name="Shape 18"/>
          <p:cNvSpPr/>
          <p:nvPr/>
        </p:nvSpPr>
        <p:spPr>
          <a:xfrm>
            <a:off x="6949440" y="1600200"/>
            <a:ext cx="502920" cy="502920"/>
          </a:xfrm>
          <a:prstGeom prst="ellipse">
            <a:avLst/>
          </a:prstGeom>
          <a:solidFill>
            <a:srgbClr val="E3A33B"/>
          </a:solidFill>
          <a:ln w="12700">
            <a:solidFill>
              <a:srgbClr val="E3A33B"/>
            </a:solidFill>
            <a:prstDash val="solid"/>
          </a:ln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80199" y="1730959"/>
            <a:ext cx="241402" cy="241402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6949440" y="2212848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0F3D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 PREVENT</a:t>
            </a:r>
            <a:endParaRPr lang="en-US" sz="1250" dirty="0"/>
          </a:p>
        </p:txBody>
      </p:sp>
      <p:sp>
        <p:nvSpPr>
          <p:cNvPr id="26" name="Text 20"/>
          <p:cNvSpPr txBox="1"/>
          <p:nvPr/>
        </p:nvSpPr>
        <p:spPr>
          <a:xfrm>
            <a:off x="6949440" y="2514600"/>
            <a:ext cx="157276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4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Parivaar Vault records every account and checks that each has a nominee.</a:t>
            </a:r>
            <a:endParaRPr lang="en-US" sz="1050" dirty="0"/>
          </a:p>
        </p:txBody>
      </p:sp>
      <p:sp>
        <p:nvSpPr>
          <p:cNvPr id="27" name="Shape 21"/>
          <p:cNvSpPr/>
          <p:nvPr/>
        </p:nvSpPr>
        <p:spPr>
          <a:xfrm>
            <a:off x="457200" y="4023360"/>
            <a:ext cx="2926080" cy="411480"/>
          </a:xfrm>
          <a:prstGeom prst="roundRect">
            <a:avLst>
              <a:gd name="adj" fmla="val 48889"/>
            </a:avLst>
          </a:prstGeom>
          <a:solidFill>
            <a:srgbClr val="0F3D3E"/>
          </a:solidFill>
          <a:ln w="12700">
            <a:solidFill>
              <a:srgbClr val="0F3D3E"/>
            </a:solidFill>
            <a:prstDash val="solid"/>
          </a:ln>
        </p:spPr>
      </p:sp>
      <p:pic>
        <p:nvPicPr>
          <p:cNvPr id="2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2648" y="4123944"/>
            <a:ext cx="210312" cy="210312"/>
          </a:xfrm>
          <a:prstGeom prst="rect">
            <a:avLst/>
          </a:prstGeom>
        </p:spPr>
      </p:pic>
      <p:sp>
        <p:nvSpPr>
          <p:cNvPr id="29" name="Text 22"/>
          <p:cNvSpPr txBox="1"/>
          <p:nvPr/>
        </p:nvSpPr>
        <p:spPr>
          <a:xfrm>
            <a:off x="914400" y="402336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English and Hindi, by voice</a:t>
            </a:r>
            <a:endParaRPr lang="en-US" sz="1100" dirty="0"/>
          </a:p>
        </p:txBody>
      </p:sp>
      <p:sp>
        <p:nvSpPr>
          <p:cNvPr id="30" name="Shape 23"/>
          <p:cNvSpPr/>
          <p:nvPr/>
        </p:nvSpPr>
        <p:spPr>
          <a:xfrm>
            <a:off x="3520440" y="4023360"/>
            <a:ext cx="3291840" cy="411480"/>
          </a:xfrm>
          <a:prstGeom prst="roundRect">
            <a:avLst>
              <a:gd name="adj" fmla="val 48889"/>
            </a:avLst>
          </a:prstGeom>
          <a:solidFill>
            <a:srgbClr val="0F3D3E"/>
          </a:solidFill>
          <a:ln w="12700">
            <a:solidFill>
              <a:srgbClr val="0F3D3E"/>
            </a:solidFill>
            <a:prstDash val="solid"/>
          </a:ln>
        </p:spPr>
      </p:sp>
      <p:pic>
        <p:nvPicPr>
          <p:cNvPr id="3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75888" y="4123944"/>
            <a:ext cx="210312" cy="210312"/>
          </a:xfrm>
          <a:prstGeom prst="rect">
            <a:avLst/>
          </a:prstGeom>
        </p:spPr>
      </p:pic>
      <p:sp>
        <p:nvSpPr>
          <p:cNvPr id="32" name="Text 24"/>
          <p:cNvSpPr txBox="1"/>
          <p:nvPr/>
        </p:nvSpPr>
        <p:spPr>
          <a:xfrm>
            <a:off x="3977640" y="402336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 and dark, phone and laptop</a:t>
            </a:r>
            <a:endParaRPr lang="en-US" sz="1100" dirty="0"/>
          </a:p>
        </p:txBody>
      </p:sp>
      <p:sp>
        <p:nvSpPr>
          <p:cNvPr id="33" name="Shape 25"/>
          <p:cNvSpPr/>
          <p:nvPr/>
        </p:nvSpPr>
        <p:spPr>
          <a:xfrm>
            <a:off x="6949440" y="4023360"/>
            <a:ext cx="2194560" cy="411480"/>
          </a:xfrm>
          <a:prstGeom prst="roundRect">
            <a:avLst>
              <a:gd name="adj" fmla="val 48889"/>
            </a:avLst>
          </a:prstGeom>
          <a:solidFill>
            <a:srgbClr val="0F3D3E"/>
          </a:solidFill>
          <a:ln w="12700">
            <a:solidFill>
              <a:srgbClr val="0F3D3E"/>
            </a:solidFill>
            <a:prstDash val="solid"/>
          </a:ln>
        </p:spPr>
      </p:sp>
      <p:pic>
        <p:nvPicPr>
          <p:cNvPr id="34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104888" y="4123944"/>
            <a:ext cx="210312" cy="210312"/>
          </a:xfrm>
          <a:prstGeom prst="rect">
            <a:avLst/>
          </a:prstGeom>
        </p:spPr>
      </p:pic>
      <p:sp>
        <p:nvSpPr>
          <p:cNvPr id="35" name="Text 26"/>
          <p:cNvSpPr txBox="1"/>
          <p:nvPr/>
        </p:nvSpPr>
        <p:spPr>
          <a:xfrm>
            <a:off x="7406640" y="402336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sign up to try it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3A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 ·  PRODUCT DEMONSTRATION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30352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B24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This is the working product, not a mock-up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20624" y="1289304"/>
            <a:ext cx="4096512" cy="2907792"/>
          </a:xfrm>
          <a:prstGeom prst="roundRect">
            <a:avLst>
              <a:gd name="adj" fmla="val 1887"/>
            </a:avLst>
          </a:prstGeom>
          <a:solidFill>
            <a:srgbClr val="EDF2F1"/>
          </a:solidFill>
          <a:ln w="9525">
            <a:solidFill>
              <a:srgbClr val="D5E2D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25880"/>
            <a:ext cx="4023360" cy="283464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626864" y="1289304"/>
            <a:ext cx="4096512" cy="2907792"/>
          </a:xfrm>
          <a:prstGeom prst="roundRect">
            <a:avLst>
              <a:gd name="adj" fmla="val 1887"/>
            </a:avLst>
          </a:prstGeom>
          <a:solidFill>
            <a:srgbClr val="EDF2F1"/>
          </a:solidFill>
          <a:ln w="9525">
            <a:solidFill>
              <a:srgbClr val="D5E2D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0" y="1325880"/>
            <a:ext cx="4023360" cy="283464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457200" y="4224528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B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Find: three sample papers and the tax statement become a list of ₹4.85 lakh waiting in 5 places, each with its own portal and guided steps.</a:t>
            </a:r>
            <a:endParaRPr lang="en-US" sz="1000" dirty="0"/>
          </a:p>
        </p:txBody>
      </p:sp>
      <p:sp>
        <p:nvSpPr>
          <p:cNvPr id="9" name="Text 5"/>
          <p:cNvSpPr txBox="1"/>
          <p:nvPr/>
        </p:nvSpPr>
        <p:spPr>
          <a:xfrm>
            <a:off x="4663440" y="4224528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B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Claim: the rule engine picks the route, the Two AI Debate checks it, and the filled claim pack downloads as a PDF.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3A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 ·  INNOVATION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30352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B24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things that exist nowhere else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502920" cy="502920"/>
          </a:xfrm>
          <a:prstGeom prst="ellipse">
            <a:avLst/>
          </a:prstGeom>
          <a:solidFill>
            <a:srgbClr val="0F3D3E"/>
          </a:solidFill>
          <a:ln w="12700">
            <a:solidFill>
              <a:srgbClr val="0F3D3E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7959" y="1502359"/>
            <a:ext cx="241402" cy="24140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143000" y="1353312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F3D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tax statement becomes an asset map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1143000" y="1627632"/>
            <a:ext cx="7498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4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legal heir can get the account holder's Annual Information Statement. It lists interest from every bank and dividends from every company. Virasat turns that one PDF into a list of places to claim from, even with no papers at all.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457200" y="2221992"/>
            <a:ext cx="502920" cy="502920"/>
          </a:xfrm>
          <a:prstGeom prst="ellipse">
            <a:avLst/>
          </a:prstGeom>
          <a:solidFill>
            <a:srgbClr val="E3A33B"/>
          </a:solidFill>
          <a:ln w="12700">
            <a:solidFill>
              <a:srgbClr val="E3A33B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959" y="2352751"/>
            <a:ext cx="241402" cy="24140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143000" y="2203704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F3D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Two AI Debate</a:t>
            </a:r>
            <a:endParaRPr lang="en-US" sz="1400" dirty="0"/>
          </a:p>
        </p:txBody>
      </p:sp>
      <p:sp>
        <p:nvSpPr>
          <p:cNvPr id="11" name="Text 7"/>
          <p:cNvSpPr txBox="1"/>
          <p:nvPr/>
        </p:nvSpPr>
        <p:spPr>
          <a:xfrm>
            <a:off x="1143000" y="2478024"/>
            <a:ext cx="7498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4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AI argues for the route, a second hunts for what could go wrong, a third gives the verdict with reasons and risks. The referee can only make advice more careful, never overrule the rules.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457200" y="3072384"/>
            <a:ext cx="502920" cy="502920"/>
          </a:xfrm>
          <a:prstGeom prst="ellipse">
            <a:avLst/>
          </a:prstGeom>
          <a:solidFill>
            <a:srgbClr val="0F3D3E"/>
          </a:solidFill>
          <a:ln w="12700">
            <a:solidFill>
              <a:srgbClr val="0F3D3E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959" y="3203143"/>
            <a:ext cx="241402" cy="241402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143000" y="3054096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F3D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 by separation</a:t>
            </a:r>
            <a:endParaRPr lang="en-US" sz="1400" dirty="0"/>
          </a:p>
        </p:txBody>
      </p:sp>
      <p:sp>
        <p:nvSpPr>
          <p:cNvPr id="15" name="Text 10"/>
          <p:cNvSpPr txBox="1"/>
          <p:nvPr/>
        </p:nvSpPr>
        <p:spPr>
          <a:xfrm>
            <a:off x="1143000" y="3328416"/>
            <a:ext cx="7498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4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AI reads, explains and translates. Every legal decision comes from a deterministic, versioned, unit-tested rule engine, so an institution can audit it.</a:t>
            </a:r>
            <a:endParaRPr lang="en-US" sz="1050" dirty="0"/>
          </a:p>
        </p:txBody>
      </p:sp>
      <p:sp>
        <p:nvSpPr>
          <p:cNvPr id="16" name="Shape 11"/>
          <p:cNvSpPr/>
          <p:nvPr/>
        </p:nvSpPr>
        <p:spPr>
          <a:xfrm>
            <a:off x="457200" y="3922776"/>
            <a:ext cx="502920" cy="502920"/>
          </a:xfrm>
          <a:prstGeom prst="ellipse">
            <a:avLst/>
          </a:prstGeom>
          <a:solidFill>
            <a:srgbClr val="0F3D3E"/>
          </a:solidFill>
          <a:ln w="12700">
            <a:solidFill>
              <a:srgbClr val="0F3D3E"/>
            </a:solidFill>
            <a:prstDash val="solid"/>
          </a:ln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959" y="4053535"/>
            <a:ext cx="241402" cy="241402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1143000" y="3904488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F3D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Bring your own data, key and rules</a:t>
            </a:r>
            <a:endParaRPr lang="en-US" sz="1400" dirty="0"/>
          </a:p>
        </p:txBody>
      </p:sp>
      <p:sp>
        <p:nvSpPr>
          <p:cNvPr id="19" name="Text 13"/>
          <p:cNvSpPr txBox="1"/>
          <p:nvPr/>
        </p:nvSpPr>
        <p:spPr>
          <a:xfrm>
            <a:off x="1143000" y="4178808"/>
            <a:ext cx="7498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4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bank sends its own claim rules as JSON. Virasat applies them and records the rule version on every claim.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6F0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3A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 ·  INNOVATION: THE TWO AI DEBATE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30352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B24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Challenger caught what a single answer missed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41148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D5E2D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640080" y="1481328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E7F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Supporter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737360"/>
            <a:ext cx="3749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4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nominee route is correct: the passbook names a nominee and the amount is below the bank's threshold.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663440" y="1371600"/>
            <a:ext cx="402336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D5E2D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4846320" y="1481328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8A5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Challenger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4846320" y="1737360"/>
            <a:ext cx="3657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4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passbook says 'Sunita R Kulkarni'. Her ID may say 'Sunita Ramesh Kulkarni'. Banks reject claims on a spelling mismatch.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57200" y="2880360"/>
            <a:ext cx="8229600" cy="1234440"/>
          </a:xfrm>
          <a:prstGeom prst="roundRect">
            <a:avLst>
              <a:gd name="adj" fmla="val 5926"/>
            </a:avLst>
          </a:prstGeom>
          <a:solidFill>
            <a:srgbClr val="0F3D3E"/>
          </a:solidFill>
          <a:ln w="9525">
            <a:solidFill>
              <a:srgbClr val="0F3D3E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685800" y="299923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E3A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Referee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3255264"/>
            <a:ext cx="7772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Nominee route. High confidence. Next step: carry an ID that matches the nominee name exactly, or an affidavit for the name variation.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482803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Research: multi-agent debate improves factual accuracy (Du and others, ICML 2024). Newer work warns it is not always better, so we measure it: npm run eval reports how often the Challenger catches a planted problem, with and without the debate. Both numbers are published on the site.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3A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 ·  TECHNICAL IMPLEMENTATION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30352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B24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actually built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2743200" cy="2240280"/>
          </a:xfrm>
          <a:prstGeom prst="roundRect">
            <a:avLst>
              <a:gd name="adj" fmla="val 3265"/>
            </a:avLst>
          </a:prstGeom>
          <a:solidFill>
            <a:srgbClr val="FFFFFF"/>
          </a:solidFill>
          <a:ln w="9525">
            <a:solidFill>
              <a:srgbClr val="D5E2D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640080" y="148132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5B6B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 AND WRITES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783080"/>
            <a:ext cx="23774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B24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Opus 5 with JSON schema outputs</a:t>
            </a:r>
            <a:endParaRPr lang="en-US" sz="10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B24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AIS PDF tables parsed in code</a:t>
            </a:r>
            <a:endParaRPr lang="en-US" sz="10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B24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Claim packs built with pdf-lib</a:t>
            </a:r>
            <a:endParaRPr lang="en-US" sz="10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B24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Browser speech in and out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337560" y="1371600"/>
            <a:ext cx="2468880" cy="2240280"/>
          </a:xfrm>
          <a:prstGeom prst="roundRect">
            <a:avLst>
              <a:gd name="adj" fmla="val 3265"/>
            </a:avLst>
          </a:prstGeom>
          <a:solidFill>
            <a:srgbClr val="0F3D3E"/>
          </a:solidFill>
          <a:ln w="9525">
            <a:solidFill>
              <a:srgbClr val="0F3D3E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3520440" y="148132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E3A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DECIDES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3520440" y="1783080"/>
            <a:ext cx="21031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 engine, 5 institutions</a:t>
            </a:r>
            <a:endParaRPr lang="en-US" sz="10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Versioned and unit-tested</a:t>
            </a:r>
            <a:endParaRPr lang="en-US" sz="10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Bring your own rules</a:t>
            </a:r>
            <a:endParaRPr lang="en-US" sz="10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Debate can only raise caution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943600" y="1371600"/>
            <a:ext cx="2743200" cy="2240280"/>
          </a:xfrm>
          <a:prstGeom prst="roundRect">
            <a:avLst>
              <a:gd name="adj" fmla="val 3265"/>
            </a:avLst>
          </a:prstGeom>
          <a:solidFill>
            <a:srgbClr val="FFFFFF"/>
          </a:solidFill>
          <a:ln w="9525">
            <a:solidFill>
              <a:srgbClr val="D5E2D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6126480" y="148132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5B6B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SERVES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6126480" y="1783080"/>
            <a:ext cx="23774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B24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Next.js 16, React 19, TypeScript</a:t>
            </a:r>
            <a:endParaRPr lang="en-US" sz="10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B24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API with keys and limits</a:t>
            </a:r>
            <a:endParaRPr lang="en-US" sz="10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B24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RFC 9457 errors, playground</a:t>
            </a:r>
            <a:endParaRPr lang="en-US" sz="10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B24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stays in the browser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57200" y="3794760"/>
            <a:ext cx="1920240" cy="777240"/>
          </a:xfrm>
          <a:prstGeom prst="roundRect">
            <a:avLst>
              <a:gd name="adj" fmla="val 9412"/>
            </a:avLst>
          </a:prstGeom>
          <a:solidFill>
            <a:srgbClr val="FBF1DF"/>
          </a:solidFill>
          <a:ln w="9525">
            <a:solidFill>
              <a:srgbClr val="FBF1D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594360" y="3877056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F3D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23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594360" y="420624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B24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tests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2542032" y="3794760"/>
            <a:ext cx="1920240" cy="777240"/>
          </a:xfrm>
          <a:prstGeom prst="roundRect">
            <a:avLst>
              <a:gd name="adj" fmla="val 9412"/>
            </a:avLst>
          </a:prstGeom>
          <a:solidFill>
            <a:srgbClr val="FBF1DF"/>
          </a:solidFill>
          <a:ln w="9525">
            <a:solidFill>
              <a:srgbClr val="FBF1D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2679192" y="3877056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F3D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2679192" y="420624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B24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serious axe violations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4626864" y="3794760"/>
            <a:ext cx="1920240" cy="777240"/>
          </a:xfrm>
          <a:prstGeom prst="roundRect">
            <a:avLst>
              <a:gd name="adj" fmla="val 9412"/>
            </a:avLst>
          </a:prstGeom>
          <a:solidFill>
            <a:srgbClr val="FBF1DF"/>
          </a:solidFill>
          <a:ln w="9525">
            <a:solidFill>
              <a:srgbClr val="FBF1D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4764024" y="3877056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F3D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99 / 100</a:t>
            </a:r>
            <a:endParaRPr lang="en-US" sz="1700" dirty="0"/>
          </a:p>
        </p:txBody>
      </p:sp>
      <p:sp>
        <p:nvSpPr>
          <p:cNvPr id="21" name="Text 19"/>
          <p:cNvSpPr txBox="1"/>
          <p:nvPr/>
        </p:nvSpPr>
        <p:spPr>
          <a:xfrm>
            <a:off x="4764024" y="420624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B24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Lighthouse perf / a11y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6711696" y="3794760"/>
            <a:ext cx="1920240" cy="777240"/>
          </a:xfrm>
          <a:prstGeom prst="roundRect">
            <a:avLst>
              <a:gd name="adj" fmla="val 9412"/>
            </a:avLst>
          </a:prstGeom>
          <a:solidFill>
            <a:srgbClr val="FBF1DF"/>
          </a:solidFill>
          <a:ln w="9525">
            <a:solidFill>
              <a:srgbClr val="FBF1D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 txBox="1"/>
          <p:nvPr/>
        </p:nvSpPr>
        <p:spPr>
          <a:xfrm>
            <a:off x="6848856" y="3877056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F3D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about ₹16</a:t>
            </a:r>
            <a:endParaRPr lang="en-US" sz="1700" dirty="0"/>
          </a:p>
        </p:txBody>
      </p:sp>
      <p:sp>
        <p:nvSpPr>
          <p:cNvPr id="24" name="Text 22"/>
          <p:cNvSpPr txBox="1"/>
          <p:nvPr/>
        </p:nvSpPr>
        <p:spPr>
          <a:xfrm>
            <a:off x="6848856" y="420624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B24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cost per claim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6F0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3A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 ·  TECHNICAL IMPLEMENTATION: MEASURED, NOT CLAIMED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30352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B24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Built for a cheap phone, in your language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20624" y="1335024"/>
            <a:ext cx="4005072" cy="2267712"/>
          </a:xfrm>
          <a:prstGeom prst="roundRect">
            <a:avLst>
              <a:gd name="adj" fmla="val 2419"/>
            </a:avLst>
          </a:prstGeom>
          <a:solidFill>
            <a:srgbClr val="EDF2F1"/>
          </a:solidFill>
          <a:ln w="9525">
            <a:solidFill>
              <a:srgbClr val="D5E2D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3931920" cy="219456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718304" y="1335024"/>
            <a:ext cx="1490472" cy="3136392"/>
          </a:xfrm>
          <a:prstGeom prst="roundRect">
            <a:avLst>
              <a:gd name="adj" fmla="val 3681"/>
            </a:avLst>
          </a:prstGeom>
          <a:solidFill>
            <a:srgbClr val="EDF2F1"/>
          </a:solidFill>
          <a:ln w="9525">
            <a:solidFill>
              <a:srgbClr val="D5E2D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1371600"/>
            <a:ext cx="1417320" cy="306324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6446520" y="137160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F3D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Accessibility (axe, WCAG 2.2 AA)</a:t>
            </a:r>
            <a:endParaRPr lang="en-US" sz="1050" dirty="0"/>
          </a:p>
        </p:txBody>
      </p:sp>
      <p:sp>
        <p:nvSpPr>
          <p:cNvPr id="9" name="Text 5"/>
          <p:cNvSpPr txBox="1"/>
          <p:nvPr/>
        </p:nvSpPr>
        <p:spPr>
          <a:xfrm>
            <a:off x="6446520" y="1591056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1B24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serious or critical across 11 pages, light and dark</a:t>
            </a:r>
            <a:endParaRPr lang="en-US" sz="850" dirty="0"/>
          </a:p>
        </p:txBody>
      </p:sp>
      <p:sp>
        <p:nvSpPr>
          <p:cNvPr id="10" name="Text 6"/>
          <p:cNvSpPr txBox="1"/>
          <p:nvPr/>
        </p:nvSpPr>
        <p:spPr>
          <a:xfrm>
            <a:off x="6446520" y="214884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F3D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Lighthouse, live, 3 runs each</a:t>
            </a:r>
            <a:endParaRPr lang="en-US" sz="1050" dirty="0"/>
          </a:p>
        </p:txBody>
      </p:sp>
      <p:sp>
        <p:nvSpPr>
          <p:cNvPr id="11" name="Text 7"/>
          <p:cNvSpPr txBox="1"/>
          <p:nvPr/>
        </p:nvSpPr>
        <p:spPr>
          <a:xfrm>
            <a:off x="6446520" y="2368296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1B24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99 to 100 desktop, 91 to 92 on a throttled phone. 100 accessibility, best practices and SEO on both, no layout shift.</a:t>
            </a:r>
            <a:endParaRPr lang="en-US" sz="850" dirty="0"/>
          </a:p>
        </p:txBody>
      </p:sp>
      <p:sp>
        <p:nvSpPr>
          <p:cNvPr id="12" name="Text 8"/>
          <p:cNvSpPr txBox="1"/>
          <p:nvPr/>
        </p:nvSpPr>
        <p:spPr>
          <a:xfrm>
            <a:off x="6446520" y="292608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F3D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 with no signal</a:t>
            </a:r>
            <a:endParaRPr lang="en-US" sz="1050" dirty="0"/>
          </a:p>
        </p:txBody>
      </p:sp>
      <p:sp>
        <p:nvSpPr>
          <p:cNvPr id="13" name="Text 9"/>
          <p:cNvSpPr txBox="1"/>
          <p:nvPr/>
        </p:nvSpPr>
        <p:spPr>
          <a:xfrm>
            <a:off x="6446520" y="3145536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1B24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Installable. A service worker keeps every opened page, the Vault and the glossary working offline, and says which steps are waiting.</a:t>
            </a:r>
            <a:endParaRPr lang="en-US" sz="850" dirty="0"/>
          </a:p>
        </p:txBody>
      </p:sp>
      <p:sp>
        <p:nvSpPr>
          <p:cNvPr id="14" name="Text 10"/>
          <p:cNvSpPr txBox="1"/>
          <p:nvPr/>
        </p:nvSpPr>
        <p:spPr>
          <a:xfrm>
            <a:off x="6446520" y="370332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F3D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Languages and reach</a:t>
            </a:r>
            <a:endParaRPr lang="en-US" sz="1050" dirty="0"/>
          </a:p>
        </p:txBody>
      </p:sp>
      <p:sp>
        <p:nvSpPr>
          <p:cNvPr id="15" name="Text 11"/>
          <p:cNvSpPr txBox="1"/>
          <p:nvPr/>
        </p:nvSpPr>
        <p:spPr>
          <a:xfrm>
            <a:off x="6446520" y="3922776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1B24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English and Hindi on every screen including the rule output and the debate. 320 px, 44 px controls, voice in and out, no sign up.</a:t>
            </a:r>
            <a:endParaRPr lang="en-US" sz="850" dirty="0"/>
          </a:p>
        </p:txBody>
      </p:sp>
      <p:sp>
        <p:nvSpPr>
          <p:cNvPr id="16" name="Text 12"/>
          <p:cNvSpPr txBox="1"/>
          <p:nvPr/>
        </p:nvSpPr>
        <p:spPr>
          <a:xfrm>
            <a:off x="457200" y="37033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B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Dark mode and Hindi are one tap from any screen.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3A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 ·  IMPACT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30352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B24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changes for one family, and for the country</a:t>
            </a:r>
            <a:endParaRPr lang="en-US" sz="26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17320"/>
          <a:ext cx="502920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1554480"/>
                <a:gridCol w="173736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 ₹4.2 lakh owed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5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D3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Today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5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D3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With Virasat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5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6F6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4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Agent's cut (5 to 15%)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5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4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₹21,000 to ₹63,000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5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F3D3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5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8F6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4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 on paperwork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5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4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Months of office visits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5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F3D3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Forms ready the same day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5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8F6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4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Chance of missing money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5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4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High: nobody knows what exists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5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F3D3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Low: the tax statement shows every bank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5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8F6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760720" y="1417320"/>
            <a:ext cx="2926080" cy="941832"/>
          </a:xfrm>
          <a:prstGeom prst="roundRect">
            <a:avLst>
              <a:gd name="adj" fmla="val 7767"/>
            </a:avLst>
          </a:prstGeom>
          <a:solidFill>
            <a:srgbClr val="E3A33B"/>
          </a:solidFill>
          <a:ln w="9525">
            <a:solidFill>
              <a:srgbClr val="E3A33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5943600" y="150876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B24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₹184 crore</a:t>
            </a:r>
            <a:endParaRPr lang="en-US" sz="1900" dirty="0"/>
          </a:p>
        </p:txBody>
      </p:sp>
      <p:sp>
        <p:nvSpPr>
          <p:cNvPr id="7" name="Text 4"/>
          <p:cNvSpPr txBox="1"/>
          <p:nvPr/>
        </p:nvSpPr>
        <p:spPr>
          <a:xfrm>
            <a:off x="5943600" y="187452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B24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 to families if just 0.1 percent of the pool is claimed</a:t>
            </a:r>
            <a:endParaRPr lang="en-US" sz="950" dirty="0"/>
          </a:p>
        </p:txBody>
      </p:sp>
      <p:sp>
        <p:nvSpPr>
          <p:cNvPr id="8" name="Shape 5"/>
          <p:cNvSpPr/>
          <p:nvPr/>
        </p:nvSpPr>
        <p:spPr>
          <a:xfrm>
            <a:off x="5760720" y="2496312"/>
            <a:ext cx="2926080" cy="941832"/>
          </a:xfrm>
          <a:prstGeom prst="roundRect">
            <a:avLst>
              <a:gd name="adj" fmla="val 7767"/>
            </a:avLst>
          </a:prstGeom>
          <a:solidFill>
            <a:srgbClr val="0F3D3E"/>
          </a:solidFill>
          <a:ln w="9525">
            <a:solidFill>
              <a:srgbClr val="0F3D3E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5943600" y="2587752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₹38.7 crore</a:t>
            </a:r>
            <a:endParaRPr lang="en-US" sz="1900" dirty="0"/>
          </a:p>
        </p:txBody>
      </p:sp>
      <p:sp>
        <p:nvSpPr>
          <p:cNvPr id="10" name="Text 7"/>
          <p:cNvSpPr txBox="1"/>
          <p:nvPr/>
        </p:nvSpPr>
        <p:spPr>
          <a:xfrm>
            <a:off x="5943600" y="2953512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saved in agent fees if we help 1 lakh families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5760720" y="3575304"/>
            <a:ext cx="2926080" cy="941832"/>
          </a:xfrm>
          <a:prstGeom prst="roundRect">
            <a:avLst>
              <a:gd name="adj" fmla="val 7767"/>
            </a:avLst>
          </a:prstGeom>
          <a:solidFill>
            <a:srgbClr val="FFFFFF"/>
          </a:solidFill>
          <a:ln w="9525">
            <a:solidFill>
              <a:srgbClr val="D5E2D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5943600" y="3666744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0F3D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about ₹20</a:t>
            </a:r>
            <a:endParaRPr lang="en-US" sz="1900" dirty="0"/>
          </a:p>
        </p:txBody>
      </p:sp>
      <p:sp>
        <p:nvSpPr>
          <p:cNvPr id="13" name="Text 10"/>
          <p:cNvSpPr txBox="1"/>
          <p:nvPr/>
        </p:nvSpPr>
        <p:spPr>
          <a:xfrm>
            <a:off x="5943600" y="4032504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B24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AI per family, against ₹38,700 returned on average. Roughly 1,900 rupees recovered per rupee spent.</a:t>
            </a:r>
            <a:endParaRPr lang="en-US" sz="950" dirty="0"/>
          </a:p>
        </p:txBody>
      </p:sp>
      <p:sp>
        <p:nvSpPr>
          <p:cNvPr id="14" name="Text 11"/>
          <p:cNvSpPr txBox="1"/>
          <p:nvPr/>
        </p:nvSpPr>
        <p:spPr>
          <a:xfrm>
            <a:off x="457200" y="482803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fees: IEPF recovery consultants publish 5 to 15 percent. ₹38,700 average claim = ₹104 crore over 26,874 claims (All India Radio). AI cost is arithmetic on token counts at published Claude Opus 5 prices, shown in full at /proof and reproducible with npm run measure:cost.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6F0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3A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 ·  SCALABILITY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30352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B24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Adding a bank is adding one file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2514600"/>
            <a:ext cx="1874520" cy="1828800"/>
          </a:xfrm>
          <a:prstGeom prst="roundRect">
            <a:avLst>
              <a:gd name="adj" fmla="val 4000"/>
            </a:avLst>
          </a:prstGeom>
          <a:solidFill>
            <a:srgbClr val="E6F0E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264261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1F6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621792" y="2898648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B24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district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21792" y="3300984"/>
            <a:ext cx="157276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4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centres and one bank. Count the money returned every week.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560320" y="2240280"/>
            <a:ext cx="1874520" cy="2103120"/>
          </a:xfrm>
          <a:prstGeom prst="roundRect">
            <a:avLst>
              <a:gd name="adj" fmla="val 3902"/>
            </a:avLst>
          </a:prstGeom>
          <a:solidFill>
            <a:srgbClr val="C8DED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724912" y="236829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1F6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2724912" y="2624328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B24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All institutions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2724912" y="3026664"/>
            <a:ext cx="157276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4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rule file per bank, insurer and fund house.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663440" y="1965960"/>
            <a:ext cx="1874520" cy="2377440"/>
          </a:xfrm>
          <a:prstGeom prst="roundRect">
            <a:avLst>
              <a:gd name="adj" fmla="val 3902"/>
            </a:avLst>
          </a:prstGeom>
          <a:solidFill>
            <a:srgbClr val="1F6F6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828032" y="209397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E3A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4828032" y="2350008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22 languages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4828032" y="2752344"/>
            <a:ext cx="157276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DigiLocker and Account Aggregator. Join the RBI and IRDAI campaigns.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766560" y="1691640"/>
            <a:ext cx="1874520" cy="2651760"/>
          </a:xfrm>
          <a:prstGeom prst="roundRect">
            <a:avLst>
              <a:gd name="adj" fmla="val 3902"/>
            </a:avLst>
          </a:prstGeom>
          <a:solidFill>
            <a:srgbClr val="E3A33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931152" y="181965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1B24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WORLD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6931152" y="2075688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B24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Beyond India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6931152" y="2478024"/>
            <a:ext cx="157276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4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NRI families, and countries with similar unclaimed money programmes.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457200" y="129844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5B6B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earns: free for families. Banks and insurers pay, because regulators push them to clear unclaimed balances. Service centres charge a small fixed fee instead of an agent's percentage.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3A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 ·  FEASIBILITY: THE ARITHMETIC, IN PUBLIC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30352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B24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₹20 a family, open rules, and every number checkable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4023360" cy="2926080"/>
          </a:xfrm>
          <a:prstGeom prst="roundRect">
            <a:avLst>
              <a:gd name="adj" fmla="val 2500"/>
            </a:avLst>
          </a:prstGeom>
          <a:solidFill>
            <a:srgbClr val="F2F8F6"/>
          </a:solidFill>
          <a:ln w="9525">
            <a:solidFill>
              <a:srgbClr val="F2F8F6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685800" y="153619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F3D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one family costs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18745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4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3 photographed papers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3474720" y="1874520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B24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₹5.17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23317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4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AI reviewers, 3 claim routes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3474720" y="2331720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B24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₹14.82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685800" y="27889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4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Tax statement, rules, claim packs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3474720" y="2788920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E7F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32461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F3D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family, end to end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3474720" y="3246120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F3D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₹19.99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685800" y="3675888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rgbClr val="5B6B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of the journey costs nothing per family, because most of it runs in ordinary code. The AI is used only to read a photograph and to argue about a route.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754880" y="1371600"/>
            <a:ext cx="393192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9525">
            <a:solidFill>
              <a:srgbClr val="D5E2D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4983480" y="1517904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3D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rules are open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4983480" y="1828800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B24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claim procedure of each institution, as machine readable data. Served with no key, MIT licensed, at /api/v1/rules/corpus. If a bank or a government portal takes it, that is the point. We would rather be the standard than the site.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4754880" y="2880360"/>
            <a:ext cx="393192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9525">
            <a:solidFill>
              <a:srgbClr val="D5E2D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4983480" y="3026664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3D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number is checkable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4983480" y="3337560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B24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command, npm run audit, re-runs accessibility on every page in both themes, Lighthouse three times on two profiles, the tests and the build, then writes the report including whatever failed.</a:t>
            </a:r>
            <a:endParaRPr lang="en-US" sz="950" dirty="0"/>
          </a:p>
        </p:txBody>
      </p:sp>
      <p:sp>
        <p:nvSpPr>
          <p:cNvPr id="21" name="Text 19"/>
          <p:cNvSpPr txBox="1"/>
          <p:nvPr/>
        </p:nvSpPr>
        <p:spPr>
          <a:xfrm>
            <a:off x="4754880" y="443484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rgbClr val="5B6B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goes down, not up, with scale: overnight work moves to the Batch API at half price, and a clear printed passbook does not need the largest model. About ₹4 a family at the lowest setting.</a:t>
            </a:r>
            <a:endParaRPr lang="en-US" sz="900" dirty="0"/>
          </a:p>
        </p:txBody>
      </p:sp>
      <p:sp>
        <p:nvSpPr>
          <p:cNvPr id="22" name="Text 20"/>
          <p:cNvSpPr txBox="1"/>
          <p:nvPr/>
        </p:nvSpPr>
        <p:spPr>
          <a:xfrm>
            <a:off x="457200" y="482803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Published Anthropic prices, checked 21 Sep 2026, converted at 88 rupees to the dollar. Average of ₹38,700 returned per family: Gujarat camps, All India Radio.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3A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 ·  PRODUCT DEMONSTRATION: FOR JUDGES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30352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B24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criterion mapped to proof you can open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20624" y="1289304"/>
            <a:ext cx="4828032" cy="3044952"/>
          </a:xfrm>
          <a:prstGeom prst="roundRect">
            <a:avLst>
              <a:gd name="adj" fmla="val 1802"/>
            </a:avLst>
          </a:prstGeom>
          <a:solidFill>
            <a:srgbClr val="EDF2F1"/>
          </a:solidFill>
          <a:ln w="9525">
            <a:solidFill>
              <a:srgbClr val="D5E2D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25880"/>
            <a:ext cx="4754880" cy="29718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0" y="1463040"/>
            <a:ext cx="32004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B24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2-minute guided tour of the live product.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B24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table mapping each criterion and weight to a claim and a link.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B24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honest list: what is real, what is sample data, what is planned.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B24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deliverable Rules.md asks for, with a link.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B24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click resets the demo for the next judge.</a:t>
            </a:r>
            <a:endParaRPr lang="en-US" sz="1150" dirty="0"/>
          </a:p>
        </p:txBody>
      </p:sp>
      <p:sp>
        <p:nvSpPr>
          <p:cNvPr id="7" name="Text 4"/>
          <p:cNvSpPr txBox="1"/>
          <p:nvPr/>
        </p:nvSpPr>
        <p:spPr>
          <a:xfrm>
            <a:off x="5486400" y="388620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F3D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/judges on the live site.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3A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 ·  FUTURE SCOPE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30352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B24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next three things we build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548640" cy="548640"/>
          </a:xfrm>
          <a:prstGeom prst="ellipse">
            <a:avLst/>
          </a:prstGeom>
          <a:solidFill>
            <a:srgbClr val="E3A33B"/>
          </a:solidFill>
          <a:ln w="12700">
            <a:solidFill>
              <a:srgbClr val="E3A33B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9846" y="1605686"/>
            <a:ext cx="263347" cy="263347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188720" y="1463040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F3D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WhatsApp and more languages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1188720" y="1755648"/>
            <a:ext cx="7498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B24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engine behind a WhatsApp number, plus Marathi, Tamil, Telugu and Bengali, so families who never open a website can still use it.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457200" y="2514600"/>
            <a:ext cx="548640" cy="548640"/>
          </a:xfrm>
          <a:prstGeom prst="ellipse">
            <a:avLst/>
          </a:prstGeom>
          <a:solidFill>
            <a:srgbClr val="0F3D3E"/>
          </a:solidFill>
          <a:ln w="12700">
            <a:solidFill>
              <a:srgbClr val="0F3D3E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9846" y="2657246"/>
            <a:ext cx="263347" cy="263347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188720" y="2514600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F3D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DigiLocker and Account Aggregator</a:t>
            </a:r>
            <a:endParaRPr lang="en-US" sz="1500" dirty="0"/>
          </a:p>
        </p:txBody>
      </p:sp>
      <p:sp>
        <p:nvSpPr>
          <p:cNvPr id="11" name="Text 7"/>
          <p:cNvSpPr txBox="1"/>
          <p:nvPr/>
        </p:nvSpPr>
        <p:spPr>
          <a:xfrm>
            <a:off x="1188720" y="2807208"/>
            <a:ext cx="7498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B24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Fetch certificates directly and, with consent, read bank data through India's account aggregator framework, so the search step disappears.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457200" y="3566160"/>
            <a:ext cx="548640" cy="548640"/>
          </a:xfrm>
          <a:prstGeom prst="ellipse">
            <a:avLst/>
          </a:prstGeom>
          <a:solidFill>
            <a:srgbClr val="0F3D3E"/>
          </a:solidFill>
          <a:ln w="12700">
            <a:solidFill>
              <a:srgbClr val="0F3D3E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9846" y="3708806"/>
            <a:ext cx="263347" cy="263347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188720" y="3566160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F3D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service centre network</a:t>
            </a:r>
            <a:endParaRPr lang="en-US" sz="1500" dirty="0"/>
          </a:p>
        </p:txBody>
      </p:sp>
      <p:sp>
        <p:nvSpPr>
          <p:cNvPr id="15" name="Text 10"/>
          <p:cNvSpPr txBox="1"/>
          <p:nvPr/>
        </p:nvSpPr>
        <p:spPr>
          <a:xfrm>
            <a:off x="1188720" y="3858768"/>
            <a:ext cx="7498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B24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helper dashboard for the 5 lakh Common Service Centres, so one trained operator can run claims for a whole village.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F3D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18872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Aapki Poonji, Aapka Adhikar.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96596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CFE3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money, your right. Virasat is the layer that gets families to it, in their own language.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9260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E3A3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₹1.84 L cr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42900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FC3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waiting to be claimed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2651760" y="29260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E3A3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photo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2651760" y="342900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FC3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get started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4754880" y="29260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E3A3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₹0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4754880" y="342900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FC3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to families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6858000" y="29260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E3A3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23 tests</a:t>
            </a:r>
            <a:endParaRPr lang="en-US" sz="2400" dirty="0"/>
          </a:p>
        </p:txBody>
      </p:sp>
      <p:sp>
        <p:nvSpPr>
          <p:cNvPr id="11" name="Text 9"/>
          <p:cNvSpPr txBox="1"/>
          <p:nvPr/>
        </p:nvSpPr>
        <p:spPr>
          <a:xfrm>
            <a:off x="6858000" y="342900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FC3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zero a11y violations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438912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9FC3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USV  ·  Global Innovation Hackathon 2026  ·  Live at virasat-indol.vercel.app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Virasat: Team USV, Project Submission</dc:title>
  <dc:subject>PptxGenJS Presentation</dc:subject>
  <dc:creator>PptxGenJS</dc:creator>
  <cp:lastModifiedBy>PptxGenJS</cp:lastModifiedBy>
  <cp:revision>1</cp:revision>
  <dcterms:created xsi:type="dcterms:W3CDTF">2026-09-21T15:11:20Z</dcterms:created>
  <dcterms:modified xsi:type="dcterms:W3CDTF">2026-09-21T15:11:20Z</dcterms:modified>
</cp:coreProperties>
</file>